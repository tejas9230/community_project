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2" r:id="rId1"/>
  </p:sldMasterIdLst>
  <p:notesMasterIdLst>
    <p:notesMasterId r:id="rId20"/>
  </p:notesMasterIdLst>
  <p:handoutMasterIdLst>
    <p:handoutMasterId r:id="rId21"/>
  </p:handoutMasterIdLst>
  <p:sldIdLst>
    <p:sldId id="256" r:id="rId2"/>
    <p:sldId id="257" r:id="rId3"/>
    <p:sldId id="258" r:id="rId4"/>
    <p:sldId id="260" r:id="rId5"/>
    <p:sldId id="259" r:id="rId6"/>
    <p:sldId id="261" r:id="rId7"/>
    <p:sldId id="262" r:id="rId8"/>
    <p:sldId id="263" r:id="rId9"/>
    <p:sldId id="264" r:id="rId10"/>
    <p:sldId id="265" r:id="rId11"/>
    <p:sldId id="266" r:id="rId12"/>
    <p:sldId id="267" r:id="rId13"/>
    <p:sldId id="268" r:id="rId14"/>
    <p:sldId id="269" r:id="rId15"/>
    <p:sldId id="271" r:id="rId16"/>
    <p:sldId id="270"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F22E713D-B38C-44B3-AA1B-BF7E4901F54A}">
          <p14:sldIdLst>
            <p14:sldId id="256"/>
            <p14:sldId id="257"/>
            <p14:sldId id="258"/>
            <p14:sldId id="260"/>
            <p14:sldId id="259"/>
            <p14:sldId id="261"/>
            <p14:sldId id="262"/>
            <p14:sldId id="263"/>
            <p14:sldId id="264"/>
            <p14:sldId id="265"/>
            <p14:sldId id="266"/>
            <p14:sldId id="267"/>
            <p14:sldId id="268"/>
            <p14:sldId id="269"/>
            <p14:sldId id="271"/>
            <p14:sldId id="270"/>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121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handoutMaster" Target="handoutMasters/handout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8C77DDF-0A27-67B6-5BDF-F285B4C7176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871F2C14-519F-1665-5873-A72F255643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E4B00D6-E1FF-4B73-A053-E585B1FBE901}" type="datetimeFigureOut">
              <a:rPr lang="en-IN" smtClean="0"/>
              <a:t>02-07-2026</a:t>
            </a:fld>
            <a:endParaRPr lang="en-IN"/>
          </a:p>
        </p:txBody>
      </p:sp>
      <p:sp>
        <p:nvSpPr>
          <p:cNvPr id="4" name="Footer Placeholder 3">
            <a:extLst>
              <a:ext uri="{FF2B5EF4-FFF2-40B4-BE49-F238E27FC236}">
                <a16:creationId xmlns:a16="http://schemas.microsoft.com/office/drawing/2014/main" id="{EF24DCC8-0A82-FBB1-C5C8-0A3B68A7E07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4E7E76C3-C0CF-299E-70A1-6269DB65913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E8F4E45-0858-4043-A964-1C66277AD123}" type="slidenum">
              <a:rPr lang="en-IN" smtClean="0"/>
              <a:t>‹#›</a:t>
            </a:fld>
            <a:endParaRPr lang="en-IN"/>
          </a:p>
        </p:txBody>
      </p:sp>
    </p:spTree>
    <p:extLst>
      <p:ext uri="{BB962C8B-B14F-4D97-AF65-F5344CB8AC3E}">
        <p14:creationId xmlns:p14="http://schemas.microsoft.com/office/powerpoint/2010/main" val="1157035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934C36-70B1-45F6-9FDE-F1D24E79F56D}" type="datetimeFigureOut">
              <a:rPr lang="en-IN" smtClean="0"/>
              <a:t>02-07-2026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EF6A76-F437-4B4B-8482-7210935BA7C7}" type="slidenum">
              <a:rPr lang="en-IN" smtClean="0"/>
              <a:t>‹#›</a:t>
            </a:fld>
            <a:endParaRPr lang="en-IN"/>
          </a:p>
        </p:txBody>
      </p:sp>
    </p:spTree>
    <p:extLst>
      <p:ext uri="{BB962C8B-B14F-4D97-AF65-F5344CB8AC3E}">
        <p14:creationId xmlns:p14="http://schemas.microsoft.com/office/powerpoint/2010/main" val="312866233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6EF6A76-F437-4B4B-8482-7210935BA7C7}" type="slidenum">
              <a:rPr lang="en-IN" smtClean="0"/>
              <a:t>1</a:t>
            </a:fld>
            <a:endParaRPr lang="en-IN"/>
          </a:p>
        </p:txBody>
      </p:sp>
    </p:spTree>
    <p:extLst>
      <p:ext uri="{BB962C8B-B14F-4D97-AF65-F5344CB8AC3E}">
        <p14:creationId xmlns:p14="http://schemas.microsoft.com/office/powerpoint/2010/main" val="8859042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ACCCB-E175-57DF-24EA-FD7B125D54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3FCE3B5-1C30-5CEF-2519-0F3E170553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52DF157-475F-2413-9A18-8C99B0F3777E}"/>
              </a:ext>
            </a:extLst>
          </p:cNvPr>
          <p:cNvSpPr>
            <a:spLocks noGrp="1"/>
          </p:cNvSpPr>
          <p:nvPr>
            <p:ph type="dt" sz="half" idx="10"/>
          </p:nvPr>
        </p:nvSpPr>
        <p:spPr/>
        <p:txBody>
          <a:bodyPr/>
          <a:lstStyle/>
          <a:p>
            <a:fld id="{BD205323-E29B-4B70-A94E-1594BD5CBD7E}" type="datetime1">
              <a:rPr lang="en-IN" smtClean="0"/>
              <a:t>02-07-2026</a:t>
            </a:fld>
            <a:endParaRPr lang="en-IN"/>
          </a:p>
        </p:txBody>
      </p:sp>
      <p:sp>
        <p:nvSpPr>
          <p:cNvPr id="5" name="Footer Placeholder 4">
            <a:extLst>
              <a:ext uri="{FF2B5EF4-FFF2-40B4-BE49-F238E27FC236}">
                <a16:creationId xmlns:a16="http://schemas.microsoft.com/office/drawing/2014/main" id="{F32620D2-DC7F-B2F2-0EA2-DA548AEDFE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035AC5-403F-A47E-E941-5EEB21D46E50}"/>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18694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9CD6A-AF0F-7AD6-7A7C-AE6A86E8123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38BD31-11F1-A76F-4F35-D68096911B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5168E4-CF8E-21D0-0E03-53396B119ABB}"/>
              </a:ext>
            </a:extLst>
          </p:cNvPr>
          <p:cNvSpPr>
            <a:spLocks noGrp="1"/>
          </p:cNvSpPr>
          <p:nvPr>
            <p:ph type="dt" sz="half" idx="10"/>
          </p:nvPr>
        </p:nvSpPr>
        <p:spPr/>
        <p:txBody>
          <a:bodyPr/>
          <a:lstStyle/>
          <a:p>
            <a:fld id="{4D494E78-88E1-46A4-AF1B-828B5E375FA2}" type="datetime1">
              <a:rPr lang="en-IN" smtClean="0"/>
              <a:t>02-07-2026</a:t>
            </a:fld>
            <a:endParaRPr lang="en-IN"/>
          </a:p>
        </p:txBody>
      </p:sp>
      <p:sp>
        <p:nvSpPr>
          <p:cNvPr id="5" name="Footer Placeholder 4">
            <a:extLst>
              <a:ext uri="{FF2B5EF4-FFF2-40B4-BE49-F238E27FC236}">
                <a16:creationId xmlns:a16="http://schemas.microsoft.com/office/drawing/2014/main" id="{CCBF465C-6C94-5A19-8095-13922281C2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06AA8D-3739-E96E-0A3F-1FFC9B3F8737}"/>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3026017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45A6B-F1C1-9EB4-A060-5B25A0F3EA6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5161C07-B202-8596-07A9-22822C9DF1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04F265-5CE9-9191-6286-2C9AE5F0B41D}"/>
              </a:ext>
            </a:extLst>
          </p:cNvPr>
          <p:cNvSpPr>
            <a:spLocks noGrp="1"/>
          </p:cNvSpPr>
          <p:nvPr>
            <p:ph type="dt" sz="half" idx="10"/>
          </p:nvPr>
        </p:nvSpPr>
        <p:spPr/>
        <p:txBody>
          <a:bodyPr/>
          <a:lstStyle/>
          <a:p>
            <a:fld id="{23E79717-40FC-4C73-B8FA-A58DAB8A6201}" type="datetime1">
              <a:rPr lang="en-IN" smtClean="0"/>
              <a:t>02-07-2026</a:t>
            </a:fld>
            <a:endParaRPr lang="en-IN"/>
          </a:p>
        </p:txBody>
      </p:sp>
      <p:sp>
        <p:nvSpPr>
          <p:cNvPr id="5" name="Footer Placeholder 4">
            <a:extLst>
              <a:ext uri="{FF2B5EF4-FFF2-40B4-BE49-F238E27FC236}">
                <a16:creationId xmlns:a16="http://schemas.microsoft.com/office/drawing/2014/main" id="{D681E1B0-75C0-03D7-9824-CA075284B3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89738F-0524-AB68-D6DB-3A4E3B30CA0B}"/>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4307706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CF7E3-61D6-8491-1328-714F5970353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67D3BCC-F5B5-90E7-1B9B-4B86B2286D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9C0F7E7-5B74-070A-47CE-41CB80123C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E5422ED-FA86-4920-5DDD-EF5BAB071BB7}"/>
              </a:ext>
            </a:extLst>
          </p:cNvPr>
          <p:cNvSpPr>
            <a:spLocks noGrp="1"/>
          </p:cNvSpPr>
          <p:nvPr>
            <p:ph type="dt" sz="half" idx="10"/>
          </p:nvPr>
        </p:nvSpPr>
        <p:spPr/>
        <p:txBody>
          <a:bodyPr/>
          <a:lstStyle/>
          <a:p>
            <a:fld id="{07621CF7-758A-44DA-BCBF-28E94B183FAA}" type="datetime1">
              <a:rPr lang="en-IN" smtClean="0"/>
              <a:t>02-07-2026</a:t>
            </a:fld>
            <a:endParaRPr lang="en-IN"/>
          </a:p>
        </p:txBody>
      </p:sp>
      <p:sp>
        <p:nvSpPr>
          <p:cNvPr id="6" name="Footer Placeholder 5">
            <a:extLst>
              <a:ext uri="{FF2B5EF4-FFF2-40B4-BE49-F238E27FC236}">
                <a16:creationId xmlns:a16="http://schemas.microsoft.com/office/drawing/2014/main" id="{632C7351-93DD-02B8-418D-4758BB5266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2E1A715-8247-0449-9A75-090C2AC04B6C}"/>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2200775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80879-59A2-9993-5923-31956486CED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34AD61-0E56-D989-0F6E-E2475CED0E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1878A4-D7B6-8C42-F70F-B46C102B4C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E60B250-122E-ED60-C1CE-B01FF6F643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170AD3-919D-BA8B-B107-88B0AE5EC8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A676A1F-60B9-95CE-E92F-BE7C1FBCA8C8}"/>
              </a:ext>
            </a:extLst>
          </p:cNvPr>
          <p:cNvSpPr>
            <a:spLocks noGrp="1"/>
          </p:cNvSpPr>
          <p:nvPr>
            <p:ph type="dt" sz="half" idx="10"/>
          </p:nvPr>
        </p:nvSpPr>
        <p:spPr/>
        <p:txBody>
          <a:bodyPr/>
          <a:lstStyle/>
          <a:p>
            <a:fld id="{F7B49FDD-8BD6-49CA-B47B-D82B5753DDDF}" type="datetime1">
              <a:rPr lang="en-IN" smtClean="0"/>
              <a:t>02-07-2026</a:t>
            </a:fld>
            <a:endParaRPr lang="en-IN"/>
          </a:p>
        </p:txBody>
      </p:sp>
      <p:sp>
        <p:nvSpPr>
          <p:cNvPr id="8" name="Footer Placeholder 7">
            <a:extLst>
              <a:ext uri="{FF2B5EF4-FFF2-40B4-BE49-F238E27FC236}">
                <a16:creationId xmlns:a16="http://schemas.microsoft.com/office/drawing/2014/main" id="{0505E6BD-7F75-F160-B5AE-BC0CB39A00D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2C4F82A-2F5F-AFF5-B7E5-195A9F7249CE}"/>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43375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701F4-BED2-1AAD-97E2-15FD1168B04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DE9C3BD-B4F1-048A-3697-B165EAC0874B}"/>
              </a:ext>
            </a:extLst>
          </p:cNvPr>
          <p:cNvSpPr>
            <a:spLocks noGrp="1"/>
          </p:cNvSpPr>
          <p:nvPr>
            <p:ph type="dt" sz="half" idx="10"/>
          </p:nvPr>
        </p:nvSpPr>
        <p:spPr/>
        <p:txBody>
          <a:bodyPr/>
          <a:lstStyle/>
          <a:p>
            <a:fld id="{DF3971C4-7117-442F-820E-CC01BC240CFF}" type="datetime1">
              <a:rPr lang="en-IN" smtClean="0"/>
              <a:t>02-07-2026</a:t>
            </a:fld>
            <a:endParaRPr lang="en-IN"/>
          </a:p>
        </p:txBody>
      </p:sp>
      <p:sp>
        <p:nvSpPr>
          <p:cNvPr id="4" name="Footer Placeholder 3">
            <a:extLst>
              <a:ext uri="{FF2B5EF4-FFF2-40B4-BE49-F238E27FC236}">
                <a16:creationId xmlns:a16="http://schemas.microsoft.com/office/drawing/2014/main" id="{EA03806D-6534-3CB8-9569-E2F8462C40D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855F470-2CEF-BAFE-7D89-13162D55866D}"/>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2698153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661FC1-61B2-0BEC-36EF-3DE62DB9ABC2}"/>
              </a:ext>
            </a:extLst>
          </p:cNvPr>
          <p:cNvSpPr>
            <a:spLocks noGrp="1"/>
          </p:cNvSpPr>
          <p:nvPr>
            <p:ph type="dt" sz="half" idx="10"/>
          </p:nvPr>
        </p:nvSpPr>
        <p:spPr/>
        <p:txBody>
          <a:bodyPr/>
          <a:lstStyle/>
          <a:p>
            <a:fld id="{FCA54E5A-9C4D-4470-846F-ADA8C588B6A9}" type="datetime1">
              <a:rPr lang="en-IN" smtClean="0"/>
              <a:t>02-07-2026</a:t>
            </a:fld>
            <a:endParaRPr lang="en-IN"/>
          </a:p>
        </p:txBody>
      </p:sp>
      <p:sp>
        <p:nvSpPr>
          <p:cNvPr id="3" name="Footer Placeholder 2">
            <a:extLst>
              <a:ext uri="{FF2B5EF4-FFF2-40B4-BE49-F238E27FC236}">
                <a16:creationId xmlns:a16="http://schemas.microsoft.com/office/drawing/2014/main" id="{A0D6DB32-5E56-9AF3-6840-1B34E91C4CB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6A33A9D-2826-6D71-05BE-6B8D457012D0}"/>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135505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3E002-737C-263E-A4E0-BF90604D8C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87599A4-C8E8-FC9F-25B9-D033802111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60CDDF6-A347-9627-45DD-1B0CAA19CE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2C2D6B-F737-2EBE-5E8C-0BB78FDFA5E3}"/>
              </a:ext>
            </a:extLst>
          </p:cNvPr>
          <p:cNvSpPr>
            <a:spLocks noGrp="1"/>
          </p:cNvSpPr>
          <p:nvPr>
            <p:ph type="dt" sz="half" idx="10"/>
          </p:nvPr>
        </p:nvSpPr>
        <p:spPr/>
        <p:txBody>
          <a:bodyPr/>
          <a:lstStyle/>
          <a:p>
            <a:fld id="{7039F083-6D5B-4B0A-A053-F75A84FB0730}" type="datetime1">
              <a:rPr lang="en-IN" smtClean="0"/>
              <a:t>02-07-2026</a:t>
            </a:fld>
            <a:endParaRPr lang="en-IN"/>
          </a:p>
        </p:txBody>
      </p:sp>
      <p:sp>
        <p:nvSpPr>
          <p:cNvPr id="6" name="Footer Placeholder 5">
            <a:extLst>
              <a:ext uri="{FF2B5EF4-FFF2-40B4-BE49-F238E27FC236}">
                <a16:creationId xmlns:a16="http://schemas.microsoft.com/office/drawing/2014/main" id="{C1785B18-D373-F253-5581-CF1C04E35F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D5C7CE-A6DD-CD7E-7AF4-719C1B646F87}"/>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17120056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8CCD2-0CAD-E143-4AED-BF6232E4D8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3E0C940-6F35-3FA0-09D1-81974FB73A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0133F76-869F-7C98-8621-02EAAF7F9E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BF9FDD-7956-7A3E-DF1B-E917B4C39FF6}"/>
              </a:ext>
            </a:extLst>
          </p:cNvPr>
          <p:cNvSpPr>
            <a:spLocks noGrp="1"/>
          </p:cNvSpPr>
          <p:nvPr>
            <p:ph type="dt" sz="half" idx="10"/>
          </p:nvPr>
        </p:nvSpPr>
        <p:spPr/>
        <p:txBody>
          <a:bodyPr/>
          <a:lstStyle/>
          <a:p>
            <a:fld id="{5E214738-DEA0-4125-998D-ECD817967A89}" type="datetime1">
              <a:rPr lang="en-IN" smtClean="0"/>
              <a:t>02-07-2026</a:t>
            </a:fld>
            <a:endParaRPr lang="en-IN"/>
          </a:p>
        </p:txBody>
      </p:sp>
      <p:sp>
        <p:nvSpPr>
          <p:cNvPr id="6" name="Footer Placeholder 5">
            <a:extLst>
              <a:ext uri="{FF2B5EF4-FFF2-40B4-BE49-F238E27FC236}">
                <a16:creationId xmlns:a16="http://schemas.microsoft.com/office/drawing/2014/main" id="{5228230D-B290-ED5F-5C68-CE723BCCA18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119775D-FAF7-3543-22DF-BD7C5A373C19}"/>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920706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65FB7-6D0C-1E16-0A66-E68B9D2C05F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6CEE2B5-8C5E-58D4-A3F9-3A30318733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A91197-E419-0573-70A8-DE688D37A4AC}"/>
              </a:ext>
            </a:extLst>
          </p:cNvPr>
          <p:cNvSpPr>
            <a:spLocks noGrp="1"/>
          </p:cNvSpPr>
          <p:nvPr>
            <p:ph type="dt" sz="half" idx="10"/>
          </p:nvPr>
        </p:nvSpPr>
        <p:spPr/>
        <p:txBody>
          <a:bodyPr/>
          <a:lstStyle/>
          <a:p>
            <a:fld id="{47CF1ED1-E35F-4D19-85BD-C5B2E1E72F64}" type="datetime1">
              <a:rPr lang="en-IN" smtClean="0"/>
              <a:t>02-07-2026</a:t>
            </a:fld>
            <a:endParaRPr lang="en-IN"/>
          </a:p>
        </p:txBody>
      </p:sp>
      <p:sp>
        <p:nvSpPr>
          <p:cNvPr id="5" name="Footer Placeholder 4">
            <a:extLst>
              <a:ext uri="{FF2B5EF4-FFF2-40B4-BE49-F238E27FC236}">
                <a16:creationId xmlns:a16="http://schemas.microsoft.com/office/drawing/2014/main" id="{0CFCDE99-3310-5C8E-4F2A-AC0ACD95C2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798FA3-7C23-3214-D38F-392AD8DFD97B}"/>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133222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A8C7CF-4623-DEC8-14AE-6192959423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261983F-2C6C-FD2E-187E-44A0B441A9E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126E63-6CAC-E9E4-BF3F-C256D79316E9}"/>
              </a:ext>
            </a:extLst>
          </p:cNvPr>
          <p:cNvSpPr>
            <a:spLocks noGrp="1"/>
          </p:cNvSpPr>
          <p:nvPr>
            <p:ph type="dt" sz="half" idx="10"/>
          </p:nvPr>
        </p:nvSpPr>
        <p:spPr/>
        <p:txBody>
          <a:bodyPr/>
          <a:lstStyle/>
          <a:p>
            <a:fld id="{E6485591-7348-4410-8FD7-DA388D80B05C}" type="datetime1">
              <a:rPr lang="en-IN" smtClean="0"/>
              <a:t>02-07-2026</a:t>
            </a:fld>
            <a:endParaRPr lang="en-IN"/>
          </a:p>
        </p:txBody>
      </p:sp>
      <p:sp>
        <p:nvSpPr>
          <p:cNvPr id="5" name="Footer Placeholder 4">
            <a:extLst>
              <a:ext uri="{FF2B5EF4-FFF2-40B4-BE49-F238E27FC236}">
                <a16:creationId xmlns:a16="http://schemas.microsoft.com/office/drawing/2014/main" id="{66E2C139-7A5D-5405-E52E-049003BEA6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544655-C0E1-8A45-9962-DEB5CF93A4B9}"/>
              </a:ext>
            </a:extLst>
          </p:cNvPr>
          <p:cNvSpPr>
            <a:spLocks noGrp="1"/>
          </p:cNvSpPr>
          <p:nvPr>
            <p:ph type="sldNum" sz="quarter" idx="12"/>
          </p:nvPr>
        </p:nvSpPr>
        <p:spPr/>
        <p:txBody>
          <a:bodyPr/>
          <a:lstStyle/>
          <a:p>
            <a:fld id="{47526DCF-DF60-4378-BFCC-D3A207344837}" type="slidenum">
              <a:rPr lang="en-IN" smtClean="0"/>
              <a:t>‹#›</a:t>
            </a:fld>
            <a:endParaRPr lang="en-IN"/>
          </a:p>
        </p:txBody>
      </p:sp>
    </p:spTree>
    <p:extLst>
      <p:ext uri="{BB962C8B-B14F-4D97-AF65-F5344CB8AC3E}">
        <p14:creationId xmlns:p14="http://schemas.microsoft.com/office/powerpoint/2010/main" val="31518279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B3B46B-1610-0CE6-7155-D123E37416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CB4927F-6A1D-B152-1C11-14603B53F2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8B9BDF-D021-93E2-48DC-E3FB251E02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CE5703-3C09-48F0-BC15-A8F80091436C}" type="datetime1">
              <a:rPr lang="en-IN" smtClean="0"/>
              <a:t>02-07-2026</a:t>
            </a:fld>
            <a:endParaRPr lang="en-IN"/>
          </a:p>
        </p:txBody>
      </p:sp>
      <p:sp>
        <p:nvSpPr>
          <p:cNvPr id="5" name="Footer Placeholder 4">
            <a:extLst>
              <a:ext uri="{FF2B5EF4-FFF2-40B4-BE49-F238E27FC236}">
                <a16:creationId xmlns:a16="http://schemas.microsoft.com/office/drawing/2014/main" id="{1DAC4683-C2DB-CF7A-5C79-0094EA7CFA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C827840-6CAF-B6FA-3558-8E7408C33B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526DCF-DF60-4378-BFCC-D3A207344837}" type="slidenum">
              <a:rPr lang="en-IN" smtClean="0"/>
              <a:t>‹#›</a:t>
            </a:fld>
            <a:endParaRPr lang="en-IN"/>
          </a:p>
        </p:txBody>
      </p:sp>
    </p:spTree>
    <p:extLst>
      <p:ext uri="{BB962C8B-B14F-4D97-AF65-F5344CB8AC3E}">
        <p14:creationId xmlns:p14="http://schemas.microsoft.com/office/powerpoint/2010/main" val="2479114338"/>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0BAEA-A6E1-3B7C-66B0-6AA9B4168507}"/>
              </a:ext>
            </a:extLst>
          </p:cNvPr>
          <p:cNvSpPr>
            <a:spLocks noGrp="1"/>
          </p:cNvSpPr>
          <p:nvPr>
            <p:ph type="ctrTitle"/>
          </p:nvPr>
        </p:nvSpPr>
        <p:spPr>
          <a:xfrm>
            <a:off x="1030147" y="1087567"/>
            <a:ext cx="9518554" cy="814592"/>
          </a:xfrm>
        </p:spPr>
        <p:txBody>
          <a:bodyPr>
            <a:normAutofit fontScale="90000"/>
          </a:bodyPr>
          <a:lstStyle/>
          <a:p>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r>
              <a:rPr lang="en-IN" sz="2700" b="1" dirty="0">
                <a:latin typeface="Times New Roman" panose="02020603050405020304" pitchFamily="18" charset="0"/>
                <a:cs typeface="Times New Roman" panose="02020603050405020304" pitchFamily="18" charset="0"/>
              </a:rPr>
              <a:t>Community Project </a:t>
            </a:r>
            <a:br>
              <a:rPr lang="en-IN" sz="2700" b="1" dirty="0">
                <a:latin typeface="Times New Roman" panose="02020603050405020304" pitchFamily="18" charset="0"/>
                <a:cs typeface="Times New Roman" panose="02020603050405020304" pitchFamily="18" charset="0"/>
              </a:rPr>
            </a:br>
            <a:r>
              <a:rPr lang="en-IN" sz="2700" b="1" dirty="0">
                <a:latin typeface="Times New Roman" panose="02020603050405020304" pitchFamily="18" charset="0"/>
                <a:cs typeface="Times New Roman" panose="02020603050405020304" pitchFamily="18" charset="0"/>
              </a:rPr>
              <a:t>Branch: CSE-Artificial Intelligence &amp; Machine Learning</a:t>
            </a:r>
            <a:br>
              <a:rPr lang="en-IN" sz="2700" b="1" dirty="0">
                <a:latin typeface="Times New Roman" panose="02020603050405020304" pitchFamily="18" charset="0"/>
                <a:cs typeface="Times New Roman" panose="02020603050405020304" pitchFamily="18" charset="0"/>
              </a:rPr>
            </a:br>
            <a:r>
              <a:rPr lang="en-IN" sz="2700" b="1" dirty="0">
                <a:latin typeface="Times New Roman" panose="02020603050405020304" pitchFamily="18" charset="0"/>
                <a:cs typeface="Times New Roman" panose="02020603050405020304" pitchFamily="18" charset="0"/>
              </a:rPr>
              <a:t>Department: Data Engineering </a:t>
            </a:r>
            <a:br>
              <a:rPr lang="en-IN" sz="2700" b="1" dirty="0">
                <a:latin typeface="Times New Roman" panose="02020603050405020304" pitchFamily="18" charset="0"/>
                <a:cs typeface="Times New Roman" panose="02020603050405020304" pitchFamily="18" charset="0"/>
              </a:rPr>
            </a:br>
            <a:r>
              <a:rPr lang="en-IN" sz="2200" b="1" dirty="0">
                <a:latin typeface="Times New Roman" panose="02020603050405020304" pitchFamily="18" charset="0"/>
                <a:cs typeface="Times New Roman" panose="02020603050405020304" pitchFamily="18" charset="0"/>
              </a:rPr>
              <a:t>Semester: V    Section: A          Regulation: R24             Course Code: R24MSCSP001</a:t>
            </a:r>
            <a:endParaRPr lang="en-IN" sz="27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287393A-5152-2239-E68B-758F108442CF}"/>
              </a:ext>
            </a:extLst>
          </p:cNvPr>
          <p:cNvSpPr>
            <a:spLocks noGrp="1"/>
          </p:cNvSpPr>
          <p:nvPr>
            <p:ph type="subTitle" idx="1"/>
          </p:nvPr>
        </p:nvSpPr>
        <p:spPr>
          <a:xfrm>
            <a:off x="745847" y="1982521"/>
            <a:ext cx="10300000" cy="851288"/>
          </a:xfrm>
        </p:spPr>
        <p:txBody>
          <a:bodyPr>
            <a:normAutofit/>
          </a:bodyPr>
          <a:lstStyle/>
          <a:p>
            <a:pPr algn="just"/>
            <a:r>
              <a:rPr lang="en-IN" sz="1800" b="1" dirty="0">
                <a:latin typeface="Times New Roman" panose="02020603050405020304" pitchFamily="18" charset="0"/>
                <a:cs typeface="Times New Roman" panose="02020603050405020304" pitchFamily="18" charset="0"/>
              </a:rPr>
              <a:t>Project Title:   </a:t>
            </a:r>
            <a:r>
              <a:rPr sz="1800" b="0">
                <a:latin typeface="Times New Roman"/>
                <a:cs typeface="Times New Roman"/>
              </a:rPr>
              <a:t>Community Complaint Portal Using AI (SCS – Smart Civic System)</a:t>
            </a:r>
          </a:p>
          <a:p>
            <a:pPr algn="just"/>
            <a:r>
              <a:rPr lang="en-IN" sz="2000" b="1" dirty="0">
                <a:latin typeface="Times New Roman" panose="02020603050405020304" pitchFamily="18" charset="0"/>
                <a:cs typeface="Times New Roman" panose="02020603050405020304" pitchFamily="18" charset="0"/>
              </a:rPr>
              <a:t>Batch Number:    </a:t>
            </a:r>
            <a:r>
              <a:rPr lang="en-IN" sz="2000" dirty="0">
                <a:latin typeface="Times New Roman" panose="02020603050405020304" pitchFamily="18" charset="0"/>
                <a:cs typeface="Times New Roman" panose="02020603050405020304" pitchFamily="18" charset="0"/>
              </a:rPr>
              <a:t>                       </a:t>
            </a:r>
          </a:p>
        </p:txBody>
      </p:sp>
      <p:graphicFrame>
        <p:nvGraphicFramePr>
          <p:cNvPr id="5" name="Table 4">
            <a:extLst>
              <a:ext uri="{FF2B5EF4-FFF2-40B4-BE49-F238E27FC236}">
                <a16:creationId xmlns:a16="http://schemas.microsoft.com/office/drawing/2014/main" id="{860522D6-D17F-C571-6E54-DC1EB5D4FD69}"/>
              </a:ext>
            </a:extLst>
          </p:cNvPr>
          <p:cNvGraphicFramePr>
            <a:graphicFrameLocks noGrp="1"/>
          </p:cNvGraphicFramePr>
          <p:nvPr>
            <p:extLst>
              <p:ext uri="{D42A27DB-BD31-4B8C-83A1-F6EECF244321}">
                <p14:modId xmlns:p14="http://schemas.microsoft.com/office/powerpoint/2010/main" val="2489233022"/>
              </p:ext>
            </p:extLst>
          </p:nvPr>
        </p:nvGraphicFramePr>
        <p:xfrm>
          <a:off x="3123336" y="2841523"/>
          <a:ext cx="6246761" cy="1849120"/>
        </p:xfrm>
        <a:graphic>
          <a:graphicData uri="http://schemas.openxmlformats.org/drawingml/2006/table">
            <a:tbl>
              <a:tblPr firstRow="1" bandRow="1">
                <a:tableStyleId>{5C22544A-7EE6-4342-B048-85BDC9FD1C3A}</a:tableStyleId>
              </a:tblPr>
              <a:tblGrid>
                <a:gridCol w="1035664">
                  <a:extLst>
                    <a:ext uri="{9D8B030D-6E8A-4147-A177-3AD203B41FA5}">
                      <a16:colId xmlns:a16="http://schemas.microsoft.com/office/drawing/2014/main" val="2978184859"/>
                    </a:ext>
                  </a:extLst>
                </a:gridCol>
                <a:gridCol w="2408903">
                  <a:extLst>
                    <a:ext uri="{9D8B030D-6E8A-4147-A177-3AD203B41FA5}">
                      <a16:colId xmlns:a16="http://schemas.microsoft.com/office/drawing/2014/main" val="2193938237"/>
                    </a:ext>
                  </a:extLst>
                </a:gridCol>
                <a:gridCol w="2802194">
                  <a:extLst>
                    <a:ext uri="{9D8B030D-6E8A-4147-A177-3AD203B41FA5}">
                      <a16:colId xmlns:a16="http://schemas.microsoft.com/office/drawing/2014/main" val="2017919128"/>
                    </a:ext>
                  </a:extLst>
                </a:gridCol>
              </a:tblGrid>
              <a:tr h="280548">
                <a:tc>
                  <a:txBody>
                    <a:bodyPr/>
                    <a:lstStyle/>
                    <a:p>
                      <a:pPr algn="ctr"/>
                      <a:r>
                        <a:rPr lang="en-IN" dirty="0">
                          <a:latin typeface="Times New Roman" panose="02020603050405020304" pitchFamily="18" charset="0"/>
                          <a:cs typeface="Times New Roman" panose="02020603050405020304" pitchFamily="18" charset="0"/>
                        </a:rPr>
                        <a:t>S</a:t>
                      </a:r>
                      <a:r>
                        <a:rPr lang="en-IN" dirty="0">
                          <a:solidFill>
                            <a:schemeClr val="tx1"/>
                          </a:solidFill>
                          <a:latin typeface="Times New Roman" panose="02020603050405020304" pitchFamily="18" charset="0"/>
                          <a:cs typeface="Times New Roman" panose="02020603050405020304" pitchFamily="18" charset="0"/>
                        </a:rPr>
                        <a:t>S. No</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Register Number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Student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24480993"/>
                  </a:ext>
                </a:extLst>
              </a:tr>
              <a:tr h="370840">
                <a:tc>
                  <a:txBody>
                    <a:bodyPr/>
                    <a:lstStyle/>
                    <a:p>
                      <a:pPr algn="ctr"/>
                      <a:r>
                        <a:rPr sz="1400" b="0" i="0">
                          <a:solidFill>
                            <a:srgbClr val="262626"/>
                          </a:solidFill>
                          <a:latin typeface="Times New Roman"/>
                          <a:cs typeface="Times New Roman"/>
                        </a:rPr>
                        <a:t>1</a:t>
                      </a:r>
                      <a:endParaRPr lang="en-IN">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sz="1400" b="0" i="0">
                          <a:solidFill>
                            <a:srgbClr val="262626"/>
                          </a:solidFill>
                          <a:latin typeface="Times New Roman"/>
                          <a:cs typeface="Times New Roman"/>
                        </a:rPr>
                        <a:t>24331A4247</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sz="1400" b="0" i="0">
                          <a:solidFill>
                            <a:srgbClr val="262626"/>
                          </a:solidFill>
                          <a:latin typeface="Times New Roman"/>
                          <a:cs typeface="Times New Roman"/>
                        </a:rPr>
                        <a:t>K. Deepthi</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5102560"/>
                  </a:ext>
                </a:extLst>
              </a:tr>
              <a:tr h="370840">
                <a:tc>
                  <a:txBody>
                    <a:bodyPr/>
                    <a:lstStyle/>
                    <a:p>
                      <a:pPr algn="ctr"/>
                      <a:r>
                        <a:rPr sz="1400" b="0" i="0">
                          <a:solidFill>
                            <a:srgbClr val="262626"/>
                          </a:solidFill>
                          <a:latin typeface="Times New Roman"/>
                          <a:cs typeface="Times New Roman"/>
                        </a:rPr>
                        <a:t>2</a:t>
                      </a:r>
                      <a:endParaRPr lang="en-IN">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sz="1400" b="0" i="0">
                          <a:solidFill>
                            <a:srgbClr val="262626"/>
                          </a:solidFill>
                          <a:latin typeface="Times New Roman"/>
                          <a:cs typeface="Times New Roman"/>
                        </a:rPr>
                        <a:t>24331A4224</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sz="1400" b="0" i="0">
                          <a:solidFill>
                            <a:srgbClr val="262626"/>
                          </a:solidFill>
                          <a:latin typeface="Times New Roman"/>
                          <a:cs typeface="Times New Roman"/>
                        </a:rPr>
                        <a:t>D. Tejas Reddy</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9443936"/>
                  </a:ext>
                </a:extLst>
              </a:tr>
              <a:tr h="370840">
                <a:tc>
                  <a:txBody>
                    <a:bodyPr/>
                    <a:lstStyle/>
                    <a:p>
                      <a:pPr algn="ctr"/>
                      <a:r>
                        <a:rPr sz="1400" b="0" i="0">
                          <a:solidFill>
                            <a:srgbClr val="262626"/>
                          </a:solidFill>
                          <a:latin typeface="Times New Roman"/>
                          <a:cs typeface="Times New Roman"/>
                        </a:rPr>
                        <a:t>3</a:t>
                      </a:r>
                      <a:endParaRPr lang="en-IN">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sz="1400" b="0" i="0">
                          <a:solidFill>
                            <a:srgbClr val="262626"/>
                          </a:solidFill>
                          <a:latin typeface="Times New Roman"/>
                          <a:cs typeface="Times New Roman"/>
                        </a:rPr>
                        <a:t>24331A4248</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sz="1400" b="0" i="0">
                          <a:solidFill>
                            <a:srgbClr val="262626"/>
                          </a:solidFill>
                          <a:latin typeface="Times New Roman"/>
                          <a:cs typeface="Times New Roman"/>
                        </a:rPr>
                        <a:t>K. Uma Sekhar</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99527198"/>
                  </a:ext>
                </a:extLst>
              </a:tr>
              <a:tr h="370840">
                <a:tc>
                  <a:txBody>
                    <a:bodyPr/>
                    <a:lstStyle/>
                    <a:p>
                      <a:pPr algn="ctr"/>
                      <a:r>
                        <a:rPr sz="1400" b="0" i="0">
                          <a:solidFill>
                            <a:srgbClr val="262626"/>
                          </a:solidFill>
                          <a:latin typeface="Times New Roman"/>
                          <a:cs typeface="Times New Roman"/>
                        </a:rPr>
                        <a:t>4</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sz="1400" b="0" i="0">
                          <a:solidFill>
                            <a:srgbClr val="262626"/>
                          </a:solidFill>
                          <a:latin typeface="Times New Roman"/>
                          <a:cs typeface="Times New Roman"/>
                        </a:rPr>
                        <a:t>24331A4201</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sz="1400" b="0" i="0">
                          <a:solidFill>
                            <a:srgbClr val="262626"/>
                          </a:solidFill>
                          <a:latin typeface="Times New Roman"/>
                          <a:cs typeface="Times New Roman"/>
                        </a:rPr>
                        <a:t>A. Tarun</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4687222"/>
                  </a:ext>
                </a:extLst>
              </a:tr>
            </a:tbl>
          </a:graphicData>
        </a:graphic>
      </p:graphicFrame>
      <p:sp>
        <p:nvSpPr>
          <p:cNvPr id="7" name="TextBox 6">
            <a:extLst>
              <a:ext uri="{FF2B5EF4-FFF2-40B4-BE49-F238E27FC236}">
                <a16:creationId xmlns:a16="http://schemas.microsoft.com/office/drawing/2014/main" id="{6B39C9FE-9A55-D878-4113-BB45C8E42B25}"/>
              </a:ext>
            </a:extLst>
          </p:cNvPr>
          <p:cNvSpPr txBox="1"/>
          <p:nvPr/>
        </p:nvSpPr>
        <p:spPr>
          <a:xfrm>
            <a:off x="666564" y="5004620"/>
            <a:ext cx="4780507"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Guide Name:</a:t>
            </a:r>
            <a:r>
              <a:rPr sz="1600" b="0">
                <a:latin typeface="Times New Roman"/>
                <a:cs typeface="Times New Roman"/>
              </a:rPr>
              <a:t> Dr. S. Atchuta Rao</a:t>
            </a:r>
          </a:p>
          <a:p>
            <a:r>
              <a:rPr lang="en-IN" b="1" dirty="0">
                <a:latin typeface="Times New Roman" panose="02020603050405020304" pitchFamily="18" charset="0"/>
                <a:cs typeface="Times New Roman" panose="02020603050405020304" pitchFamily="18" charset="0"/>
              </a:rPr>
              <a:t>Designation:</a:t>
            </a:r>
            <a:r>
              <a:rPr sz="1600" b="0">
                <a:latin typeface="Times New Roman"/>
                <a:cs typeface="Times New Roman"/>
              </a:rPr>
              <a:t> Professor</a:t>
            </a:r>
          </a:p>
        </p:txBody>
      </p:sp>
      <p:sp>
        <p:nvSpPr>
          <p:cNvPr id="8" name="TextBox 7">
            <a:extLst>
              <a:ext uri="{FF2B5EF4-FFF2-40B4-BE49-F238E27FC236}">
                <a16:creationId xmlns:a16="http://schemas.microsoft.com/office/drawing/2014/main" id="{76925BDB-B544-A468-80FA-5C328DABA918}"/>
              </a:ext>
            </a:extLst>
          </p:cNvPr>
          <p:cNvSpPr txBox="1"/>
          <p:nvPr/>
        </p:nvSpPr>
        <p:spPr>
          <a:xfrm>
            <a:off x="666564" y="5770433"/>
            <a:ext cx="4128053" cy="646331"/>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Project Coordinator:</a:t>
            </a:r>
            <a:r>
              <a:rPr sz="1600" b="0">
                <a:latin typeface="Times New Roman"/>
                <a:cs typeface="Times New Roman"/>
              </a:rPr>
              <a:t> Mrs. K. Amaravathi</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Designation</a:t>
            </a:r>
            <a:r>
              <a:rPr lang="en-IN" dirty="0">
                <a:latin typeface="Times New Roman" panose="02020603050405020304" pitchFamily="18" charset="0"/>
                <a:cs typeface="Times New Roman" panose="02020603050405020304" pitchFamily="18" charset="0"/>
              </a:rPr>
              <a:t>:                                               </a:t>
            </a:r>
          </a:p>
        </p:txBody>
      </p:sp>
      <p:sp>
        <p:nvSpPr>
          <p:cNvPr id="9" name="TextBox 8">
            <a:extLst>
              <a:ext uri="{FF2B5EF4-FFF2-40B4-BE49-F238E27FC236}">
                <a16:creationId xmlns:a16="http://schemas.microsoft.com/office/drawing/2014/main" id="{F8E228F4-F1C6-996C-1333-E77944D0112F}"/>
              </a:ext>
            </a:extLst>
          </p:cNvPr>
          <p:cNvSpPr txBox="1"/>
          <p:nvPr/>
        </p:nvSpPr>
        <p:spPr>
          <a:xfrm>
            <a:off x="7441620" y="5767836"/>
            <a:ext cx="3856953" cy="646331"/>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Head of the Department</a:t>
            </a:r>
            <a:r>
              <a:rPr lang="en-IN" dirty="0">
                <a:latin typeface="Times New Roman" panose="02020603050405020304" pitchFamily="18" charset="0"/>
                <a:cs typeface="Times New Roman" panose="02020603050405020304" pitchFamily="18" charset="0"/>
              </a:rPr>
              <a:t>: Dr. V. Jyothi</a:t>
            </a:r>
          </a:p>
          <a:p>
            <a:r>
              <a:rPr lang="en-IN" b="1" dirty="0">
                <a:latin typeface="Times New Roman" panose="02020603050405020304" pitchFamily="18" charset="0"/>
                <a:cs typeface="Times New Roman" panose="02020603050405020304" pitchFamily="18" charset="0"/>
              </a:rPr>
              <a:t>Designation</a:t>
            </a:r>
            <a:r>
              <a:rPr lang="en-IN" dirty="0">
                <a:latin typeface="Times New Roman" panose="02020603050405020304" pitchFamily="18" charset="0"/>
                <a:cs typeface="Times New Roman" panose="02020603050405020304" pitchFamily="18" charset="0"/>
              </a:rPr>
              <a:t>: Associate Professor</a:t>
            </a:r>
          </a:p>
        </p:txBody>
      </p:sp>
      <p:pic>
        <p:nvPicPr>
          <p:cNvPr id="6" name="Picture 5">
            <a:extLst>
              <a:ext uri="{FF2B5EF4-FFF2-40B4-BE49-F238E27FC236}">
                <a16:creationId xmlns:a16="http://schemas.microsoft.com/office/drawing/2014/main" id="{E1A81387-CAA0-B664-E5E7-652103F7464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80203" y="297924"/>
            <a:ext cx="1049749" cy="677182"/>
          </a:xfrm>
          <a:prstGeom prst="rect">
            <a:avLst/>
          </a:prstGeom>
          <a:noFill/>
          <a:ln>
            <a:noFill/>
          </a:ln>
        </p:spPr>
      </p:pic>
    </p:spTree>
    <p:extLst>
      <p:ext uri="{BB962C8B-B14F-4D97-AF65-F5344CB8AC3E}">
        <p14:creationId xmlns:p14="http://schemas.microsoft.com/office/powerpoint/2010/main" val="759025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20921-4932-359B-99DF-4AA4E8AA81E7}"/>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B2F48609-A98A-9DB7-F9E6-DD71B73CA3B1}"/>
              </a:ext>
            </a:extLst>
          </p:cNvPr>
          <p:cNvSpPr>
            <a:spLocks noGrp="1"/>
          </p:cNvSpPr>
          <p:nvPr>
            <p:ph idx="1"/>
          </p:nvPr>
        </p:nvSpPr>
        <p:spPr>
          <a:xfrm>
            <a:off x="841248" y="1600200"/>
            <a:ext cx="6858000" cy="4480560"/>
          </a:xfrm>
        </p:spPr>
        <p:txBody>
          <a:bodyPr wrap="square">
            <a:noAutofit/>
          </a:bodyPr>
          <a:lstStyle/>
          <a:p>
            <a:pPr algn="just" marL="0" indent="0">
              <a:spcBef>
                <a:spcPts val="0"/>
              </a:spcBef>
              <a:buNone/>
            </a:pPr>
            <a:r>
              <a:rPr sz="1900" b="0" i="0">
                <a:solidFill>
                  <a:srgbClr val="262626"/>
                </a:solidFill>
                <a:latin typeface="Times New Roman"/>
                <a:cs typeface="Times New Roman"/>
              </a:rPr>
              <a:t>Reporting civic problems such as garbage, potholes, water leaks, drainage blockages and streetlight failures is still slow, fragmented and hard to hold accountable. The Smart Civic System (SCS) is an AI-powered complaint portal that classifies each complaint as the citizen types, predicts its priority and routes it to one of 10 municipal departments. Computer vision validates evidence photos and compares Before and After images to verify that a repair was really done, while GPS and text similarity catch duplicate reports. Citizens, department officers and administrators work in one closed loop with multilingual and voice input, an emergency Civic SOS mode, admin directives and a geospatial heatmap. The platform is deployed live on Flask and Node.js with SQLite and Supabase PostgreSQL.</a:t>
            </a:r>
          </a:p>
        </p:txBody>
      </p:sp>
      <p:sp>
        <p:nvSpPr>
          <p:cNvPr id="4" name="Date Placeholder 3">
            <a:extLst>
              <a:ext uri="{FF2B5EF4-FFF2-40B4-BE49-F238E27FC236}">
                <a16:creationId xmlns:a16="http://schemas.microsoft.com/office/drawing/2014/main" id="{C655E744-4F16-AB16-DDA3-CC5C491B31D8}"/>
              </a:ext>
            </a:extLst>
          </p:cNvPr>
          <p:cNvSpPr>
            <a:spLocks noGrp="1"/>
          </p:cNvSpPr>
          <p:nvPr>
            <p:ph type="dt" sz="half" idx="10"/>
          </p:nvPr>
        </p:nvSpPr>
        <p:spPr/>
        <p:txBody>
          <a:bodyPr/>
          <a:lstStyle/>
          <a:p>
            <a:fld id="{FE974F2A-A0F5-462A-B1D5-45ADC5AE6C5E}" type="datetime1">
              <a:rPr lang="en-IN" smtClean="0"/>
              <a:t>02-10-2026</a:t>
            </a:fld>
            <a:endParaRPr lang="en-IN"/>
          </a:p>
        </p:txBody>
      </p:sp>
      <p:sp>
        <p:nvSpPr>
          <p:cNvPr id="6" name="Slide Number Placeholder 5">
            <a:extLst>
              <a:ext uri="{FF2B5EF4-FFF2-40B4-BE49-F238E27FC236}">
                <a16:creationId xmlns:a16="http://schemas.microsoft.com/office/drawing/2014/main" id="{3B85AC38-09FE-7208-D128-A2197A2CA3B9}"/>
              </a:ext>
            </a:extLst>
          </p:cNvPr>
          <p:cNvSpPr>
            <a:spLocks noGrp="1"/>
          </p:cNvSpPr>
          <p:nvPr>
            <p:ph type="sldNum" sz="quarter" idx="12"/>
          </p:nvPr>
        </p:nvSpPr>
        <p:spPr/>
        <p:txBody>
          <a:bodyPr/>
          <a:lstStyle/>
          <a:p>
            <a:fld id="{47526DCF-DF60-4378-BFCC-D3A207344837}" type="slidenum">
              <a:rPr lang="en-IN" smtClean="0"/>
              <a:t>2</a:t>
            </a:fld>
            <a:endParaRPr lang="en-IN"/>
          </a:p>
        </p:txBody>
      </p:sp>
      <p:pic>
        <p:nvPicPr>
          <p:cNvPr id="12" name="Picture 11">
            <a:extLst>
              <a:ext uri="{FF2B5EF4-FFF2-40B4-BE49-F238E27FC236}">
                <a16:creationId xmlns:a16="http://schemas.microsoft.com/office/drawing/2014/main" id="{A97E8606-96F4-B880-AF30-0C51589D861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80203" y="297924"/>
            <a:ext cx="1049749" cy="677182"/>
          </a:xfrm>
          <a:prstGeom prst="rect">
            <a:avLst/>
          </a:prstGeom>
          <a:noFill/>
          <a:ln>
            <a:noFill/>
          </a:ln>
        </p:spPr>
      </p:pic>
      <p:sp>
        <p:nvSpPr>
          <p:cNvPr id="13" name="Stat 1"/>
          <p:cNvSpPr/>
          <p:nvPr/>
        </p:nvSpPr>
        <p:spPr>
          <a:xfrm>
            <a:off x="8092440" y="1691640"/>
            <a:ext cx="1645920" cy="1920240"/>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marL="0" indent="0">
              <a:spcBef>
                <a:spcPts val="0"/>
              </a:spcBef>
              <a:buNone/>
            </a:pPr>
            <a:r>
              <a:rPr sz="3600" b="1" i="0">
                <a:solidFill>
                  <a:srgbClr val="C00000"/>
                </a:solidFill>
                <a:latin typeface="Times New Roman"/>
                <a:cs typeface="Times New Roman"/>
              </a:rPr>
              <a:t>10</a:t>
            </a:r>
          </a:p>
          <a:p>
            <a:pPr algn="ctr" marL="0" indent="0">
              <a:spcBef>
                <a:spcPts val="400"/>
              </a:spcBef>
              <a:buNone/>
            </a:pPr>
            <a:r>
              <a:rPr sz="1300" b="0" i="0">
                <a:solidFill>
                  <a:srgbClr val="595959"/>
                </a:solidFill>
                <a:latin typeface="Times New Roman"/>
                <a:cs typeface="Times New Roman"/>
              </a:rPr>
              <a:t>municipal departments</a:t>
            </a:r>
          </a:p>
        </p:txBody>
      </p:sp>
      <p:sp>
        <p:nvSpPr>
          <p:cNvPr id="14" name="Stat 2"/>
          <p:cNvSpPr/>
          <p:nvPr/>
        </p:nvSpPr>
        <p:spPr>
          <a:xfrm>
            <a:off x="9875519" y="1691640"/>
            <a:ext cx="1645920" cy="1920240"/>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marL="0" indent="0">
              <a:spcBef>
                <a:spcPts val="0"/>
              </a:spcBef>
              <a:buNone/>
            </a:pPr>
            <a:r>
              <a:rPr sz="3600" b="1" i="0">
                <a:solidFill>
                  <a:srgbClr val="C00000"/>
                </a:solidFill>
                <a:latin typeface="Times New Roman"/>
                <a:cs typeface="Times New Roman"/>
              </a:rPr>
              <a:t>4</a:t>
            </a:r>
          </a:p>
          <a:p>
            <a:pPr algn="ctr" marL="0" indent="0">
              <a:spcBef>
                <a:spcPts val="400"/>
              </a:spcBef>
              <a:buNone/>
            </a:pPr>
            <a:r>
              <a:rPr sz="1300" b="0" i="0">
                <a:solidFill>
                  <a:srgbClr val="595959"/>
                </a:solidFill>
                <a:latin typeface="Times New Roman"/>
                <a:cs typeface="Times New Roman"/>
              </a:rPr>
              <a:t>languages incl. Telugu</a:t>
            </a:r>
          </a:p>
        </p:txBody>
      </p:sp>
      <p:sp>
        <p:nvSpPr>
          <p:cNvPr id="15" name="Stat 3"/>
          <p:cNvSpPr/>
          <p:nvPr/>
        </p:nvSpPr>
        <p:spPr>
          <a:xfrm>
            <a:off x="8092440" y="3840480"/>
            <a:ext cx="1645920" cy="1920240"/>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marL="0" indent="0">
              <a:spcBef>
                <a:spcPts val="0"/>
              </a:spcBef>
              <a:buNone/>
            </a:pPr>
            <a:r>
              <a:rPr sz="3600" b="1" i="0">
                <a:solidFill>
                  <a:srgbClr val="C00000"/>
                </a:solidFill>
                <a:latin typeface="Times New Roman"/>
                <a:cs typeface="Times New Roman"/>
              </a:rPr>
              <a:t>3</a:t>
            </a:r>
          </a:p>
          <a:p>
            <a:pPr algn="ctr" marL="0" indent="0">
              <a:spcBef>
                <a:spcPts val="400"/>
              </a:spcBef>
              <a:buNone/>
            </a:pPr>
            <a:r>
              <a:rPr sz="1300" b="0" i="0">
                <a:solidFill>
                  <a:srgbClr val="595959"/>
                </a:solidFill>
                <a:latin typeface="Times New Roman"/>
                <a:cs typeface="Times New Roman"/>
              </a:rPr>
              <a:t>user roles</a:t>
            </a:r>
          </a:p>
        </p:txBody>
      </p:sp>
      <p:sp>
        <p:nvSpPr>
          <p:cNvPr id="16" name="Stat 4"/>
          <p:cNvSpPr/>
          <p:nvPr/>
        </p:nvSpPr>
        <p:spPr>
          <a:xfrm>
            <a:off x="9875519" y="3840480"/>
            <a:ext cx="1645920" cy="1920240"/>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marL="0" indent="0">
              <a:spcBef>
                <a:spcPts val="0"/>
              </a:spcBef>
              <a:buNone/>
            </a:pPr>
            <a:r>
              <a:rPr sz="3600" b="1" i="0">
                <a:solidFill>
                  <a:srgbClr val="C00000"/>
                </a:solidFill>
                <a:latin typeface="Times New Roman"/>
                <a:cs typeface="Times New Roman"/>
              </a:rPr>
              <a:t>6 hr</a:t>
            </a:r>
          </a:p>
          <a:p>
            <a:pPr algn="ctr" marL="0" indent="0">
              <a:spcBef>
                <a:spcPts val="400"/>
              </a:spcBef>
              <a:buNone/>
            </a:pPr>
            <a:r>
              <a:rPr sz="1300" b="0" i="0">
                <a:solidFill>
                  <a:srgbClr val="595959"/>
                </a:solidFill>
                <a:latin typeface="Times New Roman"/>
                <a:cs typeface="Times New Roman"/>
              </a:rPr>
              <a:t>Civic SOS emergency SLA</a:t>
            </a:r>
          </a:p>
        </p:txBody>
      </p:sp>
    </p:spTree>
    <p:extLst>
      <p:ext uri="{BB962C8B-B14F-4D97-AF65-F5344CB8AC3E}">
        <p14:creationId xmlns:p14="http://schemas.microsoft.com/office/powerpoint/2010/main" val="460425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5A163-6249-C153-BF1D-0EAD5B5D0C7C}"/>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6947E6A8-1D4F-F059-0DFB-EE7106621549}"/>
              </a:ext>
            </a:extLst>
          </p:cNvPr>
          <p:cNvSpPr>
            <a:spLocks noGrp="1"/>
          </p:cNvSpPr>
          <p:nvPr>
            <p:ph idx="1"/>
          </p:nvPr>
        </p:nvSpPr>
        <p:spPr>
          <a:xfrm>
            <a:off x="841248" y="1600200"/>
            <a:ext cx="6675120" cy="4480560"/>
          </a:xfrm>
        </p:spPr>
        <p:txBody>
          <a:bodyPr wrap="square">
            <a:noAutofit/>
          </a:bodyPr>
          <a:lstStyle/>
          <a:p>
            <a:pPr marL="285750" indent="-285750">
              <a:spcBef>
                <a:spcPts val="0"/>
              </a:spcBef>
            </a:pPr>
            <a:r>
              <a:rPr sz="2000" b="0" i="0">
                <a:solidFill>
                  <a:srgbClr val="262626"/>
                </a:solidFill>
                <a:latin typeface="Times New Roman"/>
                <a:cs typeface="Times New Roman"/>
              </a:rPr>
              <a:t>Cities receive a steady flow of civic complaints, but most portals only collect them – triage, routing and follow-up stay manual.</a:t>
            </a:r>
          </a:p>
          <a:p>
            <a:pPr marL="285750" indent="-285750">
              <a:spcBef>
                <a:spcPts val="1400"/>
              </a:spcBef>
            </a:pPr>
            <a:r>
              <a:rPr sz="2000" b="0" i="0">
                <a:solidFill>
                  <a:srgbClr val="262626"/>
                </a:solidFill>
                <a:latin typeface="Times New Roman"/>
                <a:cs typeface="Times New Roman"/>
              </a:rPr>
              <a:t>AI can read a complaint, look at a photo and locate the problem, so the system can act on it immediately.</a:t>
            </a:r>
          </a:p>
          <a:p>
            <a:pPr marL="285750" indent="-285750">
              <a:spcBef>
                <a:spcPts val="1400"/>
              </a:spcBef>
            </a:pPr>
            <a:r>
              <a:rPr sz="2000" b="0" i="0">
                <a:solidFill>
                  <a:srgbClr val="262626"/>
                </a:solidFill>
                <a:latin typeface="Times New Roman"/>
                <a:cs typeface="Times New Roman"/>
              </a:rPr>
              <a:t>SCS (Smart Civic System) combines NLP, computer vision and spatial analysis in a single web platform.</a:t>
            </a:r>
          </a:p>
          <a:p>
            <a:pPr marL="285750" indent="-285750">
              <a:spcBef>
                <a:spcPts val="1400"/>
              </a:spcBef>
            </a:pPr>
            <a:r>
              <a:rPr sz="2000" b="0" i="0">
                <a:solidFill>
                  <a:srgbClr val="262626"/>
                </a:solidFill>
                <a:latin typeface="Times New Roman"/>
                <a:cs typeface="Times New Roman"/>
              </a:rPr>
              <a:t>Citizen, Department Officer and Admin share one transparent, closed-loop workflow.</a:t>
            </a:r>
          </a:p>
          <a:p>
            <a:pPr marL="285750" indent="-285750">
              <a:spcBef>
                <a:spcPts val="1400"/>
              </a:spcBef>
            </a:pPr>
            <a:r>
              <a:rPr sz="2000" b="0" i="0">
                <a:solidFill>
                  <a:srgbClr val="262626"/>
                </a:solidFill>
                <a:latin typeface="Times New Roman"/>
                <a:cs typeface="Times New Roman"/>
              </a:rPr>
              <a:t>Built for local communities: English, Hindi, Telugu and Tamil, with voice input.</a:t>
            </a:r>
          </a:p>
        </p:txBody>
      </p:sp>
      <p:sp>
        <p:nvSpPr>
          <p:cNvPr id="4" name="Date Placeholder 3">
            <a:extLst>
              <a:ext uri="{FF2B5EF4-FFF2-40B4-BE49-F238E27FC236}">
                <a16:creationId xmlns:a16="http://schemas.microsoft.com/office/drawing/2014/main" id="{8830161D-19CD-E770-288B-8FB741A16950}"/>
              </a:ext>
            </a:extLst>
          </p:cNvPr>
          <p:cNvSpPr>
            <a:spLocks noGrp="1"/>
          </p:cNvSpPr>
          <p:nvPr>
            <p:ph type="dt" sz="half" idx="10"/>
          </p:nvPr>
        </p:nvSpPr>
        <p:spPr/>
        <p:txBody>
          <a:bodyPr/>
          <a:lstStyle/>
          <a:p>
            <a:fld id="{AB8162A8-FB7E-4CF4-AE0B-1836D97118EA}" type="datetime1">
              <a:rPr lang="en-IN" smtClean="0"/>
              <a:t>02-10-2026</a:t>
            </a:fld>
            <a:endParaRPr lang="en-IN"/>
          </a:p>
        </p:txBody>
      </p:sp>
      <p:sp>
        <p:nvSpPr>
          <p:cNvPr id="6" name="Slide Number Placeholder 5">
            <a:extLst>
              <a:ext uri="{FF2B5EF4-FFF2-40B4-BE49-F238E27FC236}">
                <a16:creationId xmlns:a16="http://schemas.microsoft.com/office/drawing/2014/main" id="{D00027E8-23A5-F915-61C5-AC94CD2CCAA1}"/>
              </a:ext>
            </a:extLst>
          </p:cNvPr>
          <p:cNvSpPr>
            <a:spLocks noGrp="1"/>
          </p:cNvSpPr>
          <p:nvPr>
            <p:ph type="sldNum" sz="quarter" idx="12"/>
          </p:nvPr>
        </p:nvSpPr>
        <p:spPr/>
        <p:txBody>
          <a:bodyPr/>
          <a:lstStyle/>
          <a:p>
            <a:fld id="{47526DCF-DF60-4378-BFCC-D3A207344837}" type="slidenum">
              <a:rPr lang="en-IN" smtClean="0"/>
              <a:t>3</a:t>
            </a:fld>
            <a:endParaRPr lang="en-IN"/>
          </a:p>
        </p:txBody>
      </p:sp>
      <p:pic>
        <p:nvPicPr>
          <p:cNvPr id="8" name="Picture 7">
            <a:extLst>
              <a:ext uri="{FF2B5EF4-FFF2-40B4-BE49-F238E27FC236}">
                <a16:creationId xmlns:a16="http://schemas.microsoft.com/office/drawing/2014/main" id="{34744142-7547-0C57-B36F-46CAF270E40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80203" y="297924"/>
            <a:ext cx="1049749" cy="677182"/>
          </a:xfrm>
          <a:prstGeom prst="rect">
            <a:avLst/>
          </a:prstGeom>
          <a:noFill/>
          <a:ln>
            <a:noFill/>
          </a:ln>
        </p:spPr>
      </p:pic>
      <p:sp>
        <p:nvSpPr>
          <p:cNvPr id="9" name="Rounded Rectangle 8"/>
          <p:cNvSpPr/>
          <p:nvPr/>
        </p:nvSpPr>
        <p:spPr>
          <a:xfrm>
            <a:off x="8001000" y="1645920"/>
            <a:ext cx="3337560" cy="457200"/>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 rIns="18288" tIns="54864" bIns="54864"/>
          <a:lstStyle/>
          <a:p>
            <a:pPr algn="l" marL="0" indent="0">
              <a:spcBef>
                <a:spcPts val="0"/>
              </a:spcBef>
              <a:buNone/>
            </a:pPr>
            <a:r>
              <a:rPr sz="1800" b="1" i="0">
                <a:solidFill>
                  <a:srgbClr val="C00000"/>
                </a:solidFill>
                <a:latin typeface="Times New Roman"/>
                <a:cs typeface="Times New Roman"/>
              </a:rPr>
              <a:t>Issues SCS handles</a:t>
            </a:r>
          </a:p>
        </p:txBody>
      </p:sp>
      <p:sp>
        <p:nvSpPr>
          <p:cNvPr id="10" name="Issue pill 1"/>
          <p:cNvSpPr/>
          <p:nvPr/>
        </p:nvSpPr>
        <p:spPr>
          <a:xfrm>
            <a:off x="8001000" y="2194560"/>
            <a:ext cx="3337560" cy="585216"/>
          </a:xfrm>
          <a:prstGeom prst="roundRect">
            <a:avLst>
              <a:gd name="adj" fmla="val 50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54864" bIns="54864"/>
          <a:lstStyle/>
          <a:p>
            <a:pPr algn="l" marL="0" indent="0">
              <a:spcBef>
                <a:spcPts val="0"/>
              </a:spcBef>
              <a:buNone/>
            </a:pPr>
            <a:r>
              <a:rPr sz="1700" b="0" i="0">
                <a:solidFill>
                  <a:srgbClr val="262626"/>
                </a:solidFill>
                <a:latin typeface="Times New Roman"/>
                <a:cs typeface="Times New Roman"/>
              </a:rPr>
              <a:t>Garbage</a:t>
            </a:r>
          </a:p>
        </p:txBody>
      </p:sp>
      <p:sp>
        <p:nvSpPr>
          <p:cNvPr id="11" name="Issue pill 2"/>
          <p:cNvSpPr/>
          <p:nvPr/>
        </p:nvSpPr>
        <p:spPr>
          <a:xfrm>
            <a:off x="8001000" y="2944368"/>
            <a:ext cx="3337560" cy="585216"/>
          </a:xfrm>
          <a:prstGeom prst="roundRect">
            <a:avLst>
              <a:gd name="adj" fmla="val 50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54864" bIns="54864"/>
          <a:lstStyle/>
          <a:p>
            <a:pPr algn="l" marL="0" indent="0">
              <a:spcBef>
                <a:spcPts val="0"/>
              </a:spcBef>
              <a:buNone/>
            </a:pPr>
            <a:r>
              <a:rPr sz="1700" b="0" i="0">
                <a:solidFill>
                  <a:srgbClr val="262626"/>
                </a:solidFill>
                <a:latin typeface="Times New Roman"/>
                <a:cs typeface="Times New Roman"/>
              </a:rPr>
              <a:t>Potholes</a:t>
            </a:r>
          </a:p>
        </p:txBody>
      </p:sp>
      <p:sp>
        <p:nvSpPr>
          <p:cNvPr id="12" name="Issue pill 3"/>
          <p:cNvSpPr/>
          <p:nvPr/>
        </p:nvSpPr>
        <p:spPr>
          <a:xfrm>
            <a:off x="8001000" y="3694176"/>
            <a:ext cx="3337560" cy="585216"/>
          </a:xfrm>
          <a:prstGeom prst="roundRect">
            <a:avLst>
              <a:gd name="adj" fmla="val 50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54864" bIns="54864"/>
          <a:lstStyle/>
          <a:p>
            <a:pPr algn="l" marL="0" indent="0">
              <a:spcBef>
                <a:spcPts val="0"/>
              </a:spcBef>
              <a:buNone/>
            </a:pPr>
            <a:r>
              <a:rPr sz="1700" b="0" i="0">
                <a:solidFill>
                  <a:srgbClr val="262626"/>
                </a:solidFill>
                <a:latin typeface="Times New Roman"/>
                <a:cs typeface="Times New Roman"/>
              </a:rPr>
              <a:t>Water leaks</a:t>
            </a:r>
          </a:p>
        </p:txBody>
      </p:sp>
      <p:sp>
        <p:nvSpPr>
          <p:cNvPr id="13" name="Issue pill 4"/>
          <p:cNvSpPr/>
          <p:nvPr/>
        </p:nvSpPr>
        <p:spPr>
          <a:xfrm>
            <a:off x="8001000" y="4443983"/>
            <a:ext cx="3337560" cy="585216"/>
          </a:xfrm>
          <a:prstGeom prst="roundRect">
            <a:avLst>
              <a:gd name="adj" fmla="val 50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54864" bIns="54864"/>
          <a:lstStyle/>
          <a:p>
            <a:pPr algn="l" marL="0" indent="0">
              <a:spcBef>
                <a:spcPts val="0"/>
              </a:spcBef>
              <a:buNone/>
            </a:pPr>
            <a:r>
              <a:rPr sz="1700" b="0" i="0">
                <a:solidFill>
                  <a:srgbClr val="262626"/>
                </a:solidFill>
                <a:latin typeface="Times New Roman"/>
                <a:cs typeface="Times New Roman"/>
              </a:rPr>
              <a:t>Drainage</a:t>
            </a:r>
          </a:p>
        </p:txBody>
      </p:sp>
      <p:sp>
        <p:nvSpPr>
          <p:cNvPr id="14" name="Issue pill 5"/>
          <p:cNvSpPr/>
          <p:nvPr/>
        </p:nvSpPr>
        <p:spPr>
          <a:xfrm>
            <a:off x="8001000" y="5193792"/>
            <a:ext cx="3337560" cy="585216"/>
          </a:xfrm>
          <a:prstGeom prst="roundRect">
            <a:avLst>
              <a:gd name="adj" fmla="val 50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54864" bIns="54864"/>
          <a:lstStyle/>
          <a:p>
            <a:pPr algn="l" marL="0" indent="0">
              <a:spcBef>
                <a:spcPts val="0"/>
              </a:spcBef>
              <a:buNone/>
            </a:pPr>
            <a:r>
              <a:rPr sz="1700" b="0" i="0">
                <a:solidFill>
                  <a:srgbClr val="262626"/>
                </a:solidFill>
                <a:latin typeface="Times New Roman"/>
                <a:cs typeface="Times New Roman"/>
              </a:rPr>
              <a:t>Streetlight failures</a:t>
            </a:r>
          </a:p>
        </p:txBody>
      </p:sp>
    </p:spTree>
    <p:extLst>
      <p:ext uri="{BB962C8B-B14F-4D97-AF65-F5344CB8AC3E}">
        <p14:creationId xmlns:p14="http://schemas.microsoft.com/office/powerpoint/2010/main" val="532442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F1CE-E15D-F045-5F27-8386F7885701}"/>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Problem Statement </a:t>
            </a:r>
          </a:p>
        </p:txBody>
      </p:sp>
      <p:sp>
        <p:nvSpPr>
          <p:cNvPr id="3" name="Content Placeholder 2">
            <a:extLst>
              <a:ext uri="{FF2B5EF4-FFF2-40B4-BE49-F238E27FC236}">
                <a16:creationId xmlns:a16="http://schemas.microsoft.com/office/drawing/2014/main" id="{54038444-F448-26A9-5077-57C05FD0C603}"/>
              </a:ext>
            </a:extLst>
          </p:cNvPr>
          <p:cNvSpPr>
            <a:spLocks noGrp="1"/>
          </p:cNvSpPr>
          <p:nvPr>
            <p:ph idx="1"/>
          </p:nvPr>
        </p:nvSpPr>
        <p:spPr>
          <a:xfrm>
            <a:off x="841248" y="2103120"/>
            <a:ext cx="5029200" cy="3840480"/>
          </a:xfrm>
        </p:spPr>
        <p:txBody>
          <a:bodyPr wrap="square">
            <a:noAutofit/>
          </a:bodyPr>
          <a:lstStyle/>
          <a:p>
            <a:pPr marL="285750" indent="-285750">
              <a:spcBef>
                <a:spcPts val="0"/>
              </a:spcBef>
            </a:pPr>
            <a:r>
              <a:rPr sz="2000" b="0" i="0">
                <a:solidFill>
                  <a:srgbClr val="262626"/>
                </a:solidFill>
                <a:latin typeface="Times New Roman"/>
                <a:cs typeface="Times New Roman"/>
              </a:rPr>
              <a:t>Reporting of garbage, potholes, leaks, drainage and streetlight faults is fragmented and slow</a:t>
            </a:r>
          </a:p>
          <a:p>
            <a:pPr marL="285750" indent="-285750">
              <a:spcBef>
                <a:spcPts val="1400"/>
              </a:spcBef>
            </a:pPr>
            <a:r>
              <a:rPr sz="2000" b="0" i="0">
                <a:solidFill>
                  <a:srgbClr val="262626"/>
                </a:solidFill>
                <a:latin typeface="Times New Roman"/>
                <a:cs typeface="Times New Roman"/>
              </a:rPr>
              <a:t>The same problem is reported many times, wasting effort</a:t>
            </a:r>
          </a:p>
          <a:p>
            <a:pPr marL="285750" indent="-285750">
              <a:spcBef>
                <a:spcPts val="1400"/>
              </a:spcBef>
            </a:pPr>
            <a:r>
              <a:rPr sz="2000" b="0" i="0">
                <a:solidFill>
                  <a:srgbClr val="262626"/>
                </a:solidFill>
                <a:latin typeface="Times New Roman"/>
                <a:cs typeface="Times New Roman"/>
              </a:rPr>
              <a:t>Complaints are routed to departments by hand</a:t>
            </a:r>
          </a:p>
          <a:p>
            <a:pPr marL="285750" indent="-285750">
              <a:spcBef>
                <a:spcPts val="1400"/>
              </a:spcBef>
            </a:pPr>
            <a:r>
              <a:rPr sz="2000" b="0" i="0">
                <a:solidFill>
                  <a:srgbClr val="262626"/>
                </a:solidFill>
                <a:latin typeface="Times New Roman"/>
                <a:cs typeface="Times New Roman"/>
              </a:rPr>
              <a:t>“Resolved” is claimed with no proof of work</a:t>
            </a:r>
          </a:p>
        </p:txBody>
      </p:sp>
      <p:sp>
        <p:nvSpPr>
          <p:cNvPr id="4" name="Date Placeholder 3">
            <a:extLst>
              <a:ext uri="{FF2B5EF4-FFF2-40B4-BE49-F238E27FC236}">
                <a16:creationId xmlns:a16="http://schemas.microsoft.com/office/drawing/2014/main" id="{1C5BFB55-6FFB-24BF-FC26-16756F9C7AB1}"/>
              </a:ext>
            </a:extLst>
          </p:cNvPr>
          <p:cNvSpPr>
            <a:spLocks noGrp="1"/>
          </p:cNvSpPr>
          <p:nvPr>
            <p:ph type="dt" sz="half" idx="10"/>
          </p:nvPr>
        </p:nvSpPr>
        <p:spPr/>
        <p:txBody>
          <a:bodyPr/>
          <a:lstStyle/>
          <a:p>
            <a:fld id="{986E555F-2F27-45B3-8C9B-E0FE9428F052}" type="datetime1">
              <a:rPr lang="en-IN" smtClean="0"/>
              <a:t>02-10-2026</a:t>
            </a:fld>
            <a:endParaRPr lang="en-IN"/>
          </a:p>
        </p:txBody>
      </p:sp>
      <p:sp>
        <p:nvSpPr>
          <p:cNvPr id="6" name="Slide Number Placeholder 5">
            <a:extLst>
              <a:ext uri="{FF2B5EF4-FFF2-40B4-BE49-F238E27FC236}">
                <a16:creationId xmlns:a16="http://schemas.microsoft.com/office/drawing/2014/main" id="{5A366203-58FD-8CDB-1D75-2688B4B3CF34}"/>
              </a:ext>
            </a:extLst>
          </p:cNvPr>
          <p:cNvSpPr>
            <a:spLocks noGrp="1"/>
          </p:cNvSpPr>
          <p:nvPr>
            <p:ph type="sldNum" sz="quarter" idx="12"/>
          </p:nvPr>
        </p:nvSpPr>
        <p:spPr/>
        <p:txBody>
          <a:bodyPr/>
          <a:lstStyle/>
          <a:p>
            <a:fld id="{47526DCF-DF60-4378-BFCC-D3A207344837}" type="slidenum">
              <a:rPr lang="en-IN" smtClean="0"/>
              <a:t>4</a:t>
            </a:fld>
            <a:endParaRPr lang="en-IN"/>
          </a:p>
        </p:txBody>
      </p:sp>
      <p:pic>
        <p:nvPicPr>
          <p:cNvPr id="8" name="Picture 7">
            <a:extLst>
              <a:ext uri="{FF2B5EF4-FFF2-40B4-BE49-F238E27FC236}">
                <a16:creationId xmlns:a16="http://schemas.microsoft.com/office/drawing/2014/main" id="{0AD5D761-2FED-7F99-3699-8A324DA6BA0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80203" y="297924"/>
            <a:ext cx="1049749" cy="677182"/>
          </a:xfrm>
          <a:prstGeom prst="rect">
            <a:avLst/>
          </a:prstGeom>
          <a:noFill/>
          <a:ln>
            <a:noFill/>
          </a:ln>
        </p:spPr>
      </p:pic>
      <p:sp>
        <p:nvSpPr>
          <p:cNvPr id="9" name="Rounded Rectangle 8"/>
          <p:cNvSpPr/>
          <p:nvPr/>
        </p:nvSpPr>
        <p:spPr>
          <a:xfrm>
            <a:off x="841248" y="1600200"/>
            <a:ext cx="5029200" cy="457200"/>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 rIns="18288" tIns="54864" bIns="54864"/>
          <a:lstStyle/>
          <a:p>
            <a:pPr algn="l" marL="0" indent="0">
              <a:spcBef>
                <a:spcPts val="0"/>
              </a:spcBef>
              <a:buNone/>
            </a:pPr>
            <a:r>
              <a:rPr sz="2000" b="1" i="0">
                <a:solidFill>
                  <a:srgbClr val="C00000"/>
                </a:solidFill>
                <a:latin typeface="Times New Roman"/>
                <a:cs typeface="Times New Roman"/>
              </a:rPr>
              <a:t>The gap today</a:t>
            </a:r>
          </a:p>
        </p:txBody>
      </p:sp>
      <p:sp>
        <p:nvSpPr>
          <p:cNvPr id="10" name="Solution card"/>
          <p:cNvSpPr/>
          <p:nvPr/>
        </p:nvSpPr>
        <p:spPr>
          <a:xfrm>
            <a:off x="6263640" y="1600200"/>
            <a:ext cx="5074920" cy="4343400"/>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54864" bIns="54864"/>
          <a:lstStyle/>
          <a:p>
            <a:pPr algn="l" marL="0" indent="0">
              <a:spcBef>
                <a:spcPts val="0"/>
              </a:spcBef>
              <a:buNone/>
            </a:pPr>
            <a:r>
              <a:rPr sz="2200" b="1" i="0">
                <a:solidFill>
                  <a:srgbClr val="C00000"/>
                </a:solidFill>
                <a:latin typeface="Times New Roman"/>
                <a:cs typeface="Times New Roman"/>
              </a:rPr>
              <a:t>What SCS adds</a:t>
            </a:r>
          </a:p>
          <a:p>
            <a:pPr algn="l" marL="228600" indent="-228600">
              <a:spcBef>
                <a:spcPts val="600"/>
              </a:spcBef>
              <a:buFont typeface="Arial"/>
              <a:buChar char="•"/>
            </a:pPr>
            <a:r>
              <a:rPr sz="1800" b="1" i="0">
                <a:solidFill>
                  <a:srgbClr val="262626"/>
                </a:solidFill>
                <a:latin typeface="Times New Roman"/>
                <a:cs typeface="Times New Roman"/>
              </a:rPr>
              <a:t>Explainable AI </a:t>
            </a:r>
            <a:r>
              <a:rPr sz="1800" b="0" i="0">
                <a:solidFill>
                  <a:srgbClr val="262626"/>
                </a:solidFill>
                <a:latin typeface="Times New Roman"/>
                <a:cs typeface="Times New Roman"/>
              </a:rPr>
              <a:t>text classification and priority prediction</a:t>
            </a:r>
          </a:p>
          <a:p>
            <a:pPr algn="l" marL="228600" indent="-228600">
              <a:spcBef>
                <a:spcPts val="600"/>
              </a:spcBef>
              <a:buFont typeface="Arial"/>
              <a:buChar char="•"/>
            </a:pPr>
            <a:r>
              <a:rPr sz="1800" b="1" i="0">
                <a:solidFill>
                  <a:srgbClr val="262626"/>
                </a:solidFill>
                <a:latin typeface="Times New Roman"/>
                <a:cs typeface="Times New Roman"/>
              </a:rPr>
              <a:t>Computer vision </a:t>
            </a:r>
            <a:r>
              <a:rPr sz="1800" b="0" i="0">
                <a:solidFill>
                  <a:srgbClr val="262626"/>
                </a:solidFill>
                <a:latin typeface="Times New Roman"/>
                <a:cs typeface="Times New Roman"/>
              </a:rPr>
              <a:t>evidence validation and Before/After repair check</a:t>
            </a:r>
          </a:p>
          <a:p>
            <a:pPr algn="l" marL="228600" indent="-228600">
              <a:spcBef>
                <a:spcPts val="600"/>
              </a:spcBef>
              <a:buFont typeface="Arial"/>
              <a:buChar char="•"/>
            </a:pPr>
            <a:r>
              <a:rPr sz="1800" b="1" i="0">
                <a:solidFill>
                  <a:srgbClr val="262626"/>
                </a:solidFill>
                <a:latin typeface="Times New Roman"/>
                <a:cs typeface="Times New Roman"/>
              </a:rPr>
              <a:t>Spatial duplicate detection </a:t>
            </a:r>
            <a:r>
              <a:rPr sz="1800" b="0" i="0">
                <a:solidFill>
                  <a:srgbClr val="262626"/>
                </a:solidFill>
                <a:latin typeface="Times New Roman"/>
                <a:cs typeface="Times New Roman"/>
              </a:rPr>
              <a:t>using GPS and text similarity</a:t>
            </a:r>
          </a:p>
          <a:p>
            <a:pPr algn="l" marL="228600" indent="-228600">
              <a:spcBef>
                <a:spcPts val="600"/>
              </a:spcBef>
              <a:buFont typeface="Arial"/>
              <a:buChar char="•"/>
            </a:pPr>
            <a:r>
              <a:rPr sz="1800" b="1" i="0">
                <a:solidFill>
                  <a:srgbClr val="262626"/>
                </a:solidFill>
                <a:latin typeface="Times New Roman"/>
                <a:cs typeface="Times New Roman"/>
              </a:rPr>
              <a:t>Automatic routing </a:t>
            </a:r>
            <a:r>
              <a:rPr sz="1800" b="0" i="0">
                <a:solidFill>
                  <a:srgbClr val="262626"/>
                </a:solidFill>
                <a:latin typeface="Times New Roman"/>
                <a:cs typeface="Times New Roman"/>
              </a:rPr>
              <a:t>to 10 municipal departments</a:t>
            </a:r>
          </a:p>
          <a:p>
            <a:pPr algn="l" marL="228600" indent="-228600">
              <a:spcBef>
                <a:spcPts val="600"/>
              </a:spcBef>
              <a:buFont typeface="Arial"/>
              <a:buChar char="•"/>
            </a:pPr>
            <a:r>
              <a:rPr sz="1800" b="1" i="0">
                <a:solidFill>
                  <a:srgbClr val="262626"/>
                </a:solidFill>
                <a:latin typeface="Times New Roman"/>
                <a:cs typeface="Times New Roman"/>
              </a:rPr>
              <a:t>Closed-loop governance: </a:t>
            </a:r>
            <a:r>
              <a:rPr sz="1800" b="0" i="0">
                <a:solidFill>
                  <a:srgbClr val="262626"/>
                </a:solidFill>
                <a:latin typeface="Times New Roman"/>
                <a:cs typeface="Times New Roman"/>
              </a:rPr>
              <a:t>directives, officer dispatch, quarantine triage</a:t>
            </a:r>
          </a:p>
        </p:txBody>
      </p:sp>
    </p:spTree>
    <p:extLst>
      <p:ext uri="{BB962C8B-B14F-4D97-AF65-F5344CB8AC3E}">
        <p14:creationId xmlns:p14="http://schemas.microsoft.com/office/powerpoint/2010/main" val="5758432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1DCD-EEEE-3347-5C0C-10E73A5FE822}"/>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Project Objectives </a:t>
            </a:r>
          </a:p>
        </p:txBody>
      </p:sp>
      <p:sp>
        <p:nvSpPr>
          <p:cNvPr id="3" name="Content Placeholder 2">
            <a:extLst>
              <a:ext uri="{FF2B5EF4-FFF2-40B4-BE49-F238E27FC236}">
                <a16:creationId xmlns:a16="http://schemas.microsoft.com/office/drawing/2014/main" id="{E7A309FA-ECA9-0D37-3075-3DFE51A0BA27}"/>
              </a:ext>
            </a:extLst>
          </p:cNvPr>
          <p:cNvSpPr>
            <a:spLocks noGrp="1"/>
          </p:cNvSpPr>
          <p:nvPr>
            <p:ph idx="1"/>
          </p:nvPr>
        </p:nvSpPr>
        <p:spPr/>
        <p:txBody>
          <a:bodyPr/>
          <a:lstStyle/>
          <a:p>
            <a:endParaRPr lang="en-IN" dirty="0"/>
          </a:p>
        </p:txBody>
      </p:sp>
      <p:sp>
        <p:nvSpPr>
          <p:cNvPr id="4" name="Date Placeholder 3">
            <a:extLst>
              <a:ext uri="{FF2B5EF4-FFF2-40B4-BE49-F238E27FC236}">
                <a16:creationId xmlns:a16="http://schemas.microsoft.com/office/drawing/2014/main" id="{A64FF40B-8D9A-3811-177F-61E7CFC63E3D}"/>
              </a:ext>
            </a:extLst>
          </p:cNvPr>
          <p:cNvSpPr>
            <a:spLocks noGrp="1"/>
          </p:cNvSpPr>
          <p:nvPr>
            <p:ph type="dt" sz="half" idx="10"/>
          </p:nvPr>
        </p:nvSpPr>
        <p:spPr/>
        <p:txBody>
          <a:bodyPr/>
          <a:lstStyle/>
          <a:p>
            <a:fld id="{BED015C5-18A8-469F-B68B-6A6C54345583}" type="datetime1">
              <a:rPr lang="en-IN" smtClean="0"/>
              <a:t>02-10-2026</a:t>
            </a:fld>
            <a:endParaRPr lang="en-IN"/>
          </a:p>
        </p:txBody>
      </p:sp>
      <p:sp>
        <p:nvSpPr>
          <p:cNvPr id="6" name="Slide Number Placeholder 5">
            <a:extLst>
              <a:ext uri="{FF2B5EF4-FFF2-40B4-BE49-F238E27FC236}">
                <a16:creationId xmlns:a16="http://schemas.microsoft.com/office/drawing/2014/main" id="{ED8B19C1-E836-3143-E8F6-83D3B2B4139E}"/>
              </a:ext>
            </a:extLst>
          </p:cNvPr>
          <p:cNvSpPr>
            <a:spLocks noGrp="1"/>
          </p:cNvSpPr>
          <p:nvPr>
            <p:ph type="sldNum" sz="quarter" idx="12"/>
          </p:nvPr>
        </p:nvSpPr>
        <p:spPr/>
        <p:txBody>
          <a:bodyPr/>
          <a:lstStyle/>
          <a:p>
            <a:fld id="{47526DCF-DF60-4378-BFCC-D3A207344837}" type="slidenum">
              <a:rPr lang="en-IN" smtClean="0"/>
              <a:t>5</a:t>
            </a:fld>
            <a:endParaRPr lang="en-IN"/>
          </a:p>
        </p:txBody>
      </p:sp>
      <p:pic>
        <p:nvPicPr>
          <p:cNvPr id="8" name="Picture 7">
            <a:extLst>
              <a:ext uri="{FF2B5EF4-FFF2-40B4-BE49-F238E27FC236}">
                <a16:creationId xmlns:a16="http://schemas.microsoft.com/office/drawing/2014/main" id="{E90407FB-5EAD-D102-C031-EE696336033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80203" y="297924"/>
            <a:ext cx="1049749" cy="677182"/>
          </a:xfrm>
          <a:prstGeom prst="rect">
            <a:avLst/>
          </a:prstGeom>
          <a:noFill/>
          <a:ln>
            <a:noFill/>
          </a:ln>
        </p:spPr>
      </p:pic>
      <p:sp>
        <p:nvSpPr>
          <p:cNvPr id="9" name="Objective 1"/>
          <p:cNvSpPr/>
          <p:nvPr/>
        </p:nvSpPr>
        <p:spPr>
          <a:xfrm>
            <a:off x="841248" y="1600200"/>
            <a:ext cx="3337560" cy="2057400"/>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54864" bIns="54864"/>
          <a:lstStyle/>
          <a:p>
            <a:pPr algn="l" marL="0" indent="0">
              <a:spcBef>
                <a:spcPts val="0"/>
              </a:spcBef>
              <a:buNone/>
            </a:pPr>
            <a:r>
              <a:rPr sz="2100" b="1" i="0">
                <a:solidFill>
                  <a:srgbClr val="C00000"/>
                </a:solidFill>
                <a:latin typeface="Times New Roman"/>
                <a:cs typeface="Times New Roman"/>
              </a:rPr>
              <a:t>1  </a:t>
            </a:r>
            <a:r>
              <a:rPr sz="2100" b="1" i="0">
                <a:solidFill>
                  <a:srgbClr val="C00000"/>
                </a:solidFill>
                <a:latin typeface="Times New Roman"/>
                <a:cs typeface="Times New Roman"/>
              </a:rPr>
              <a:t>Classify in real time</a:t>
            </a:r>
          </a:p>
          <a:p>
            <a:pPr algn="l" marL="0" indent="0">
              <a:spcBef>
                <a:spcPts val="800"/>
              </a:spcBef>
              <a:buNone/>
            </a:pPr>
            <a:r>
              <a:rPr sz="1700" b="0" i="0">
                <a:solidFill>
                  <a:srgbClr val="262626"/>
                </a:solidFill>
                <a:latin typeface="Times New Roman"/>
                <a:cs typeface="Times New Roman"/>
              </a:rPr>
              <a:t>Explainable NLP shows department, confidence, priority and #keywords as the citizen types.</a:t>
            </a:r>
          </a:p>
        </p:txBody>
      </p:sp>
      <p:sp>
        <p:nvSpPr>
          <p:cNvPr id="10" name="Objective 2"/>
          <p:cNvSpPr/>
          <p:nvPr/>
        </p:nvSpPr>
        <p:spPr>
          <a:xfrm>
            <a:off x="4425696" y="1600200"/>
            <a:ext cx="3337560" cy="2057400"/>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54864" bIns="54864"/>
          <a:lstStyle/>
          <a:p>
            <a:pPr algn="l" marL="0" indent="0">
              <a:spcBef>
                <a:spcPts val="0"/>
              </a:spcBef>
              <a:buNone/>
            </a:pPr>
            <a:r>
              <a:rPr sz="2100" b="1" i="0">
                <a:solidFill>
                  <a:srgbClr val="C00000"/>
                </a:solidFill>
                <a:latin typeface="Times New Roman"/>
                <a:cs typeface="Times New Roman"/>
              </a:rPr>
              <a:t>2  </a:t>
            </a:r>
            <a:r>
              <a:rPr sz="2100" b="1" i="0">
                <a:solidFill>
                  <a:srgbClr val="C00000"/>
                </a:solidFill>
                <a:latin typeface="Times New Roman"/>
                <a:cs typeface="Times New Roman"/>
              </a:rPr>
              <a:t>Validate evidence</a:t>
            </a:r>
          </a:p>
          <a:p>
            <a:pPr algn="l" marL="0" indent="0">
              <a:spcBef>
                <a:spcPts val="800"/>
              </a:spcBef>
              <a:buNone/>
            </a:pPr>
            <a:r>
              <a:rPr sz="1700" b="0" i="0">
                <a:solidFill>
                  <a:srgbClr val="262626"/>
                </a:solidFill>
                <a:latin typeface="Times New Roman"/>
                <a:cs typeface="Times New Roman"/>
              </a:rPr>
              <a:t>Vision checks every photo and flags synthetic or low-confidence images.</a:t>
            </a:r>
          </a:p>
        </p:txBody>
      </p:sp>
      <p:sp>
        <p:nvSpPr>
          <p:cNvPr id="11" name="Objective 3"/>
          <p:cNvSpPr/>
          <p:nvPr/>
        </p:nvSpPr>
        <p:spPr>
          <a:xfrm>
            <a:off x="8010144" y="1600200"/>
            <a:ext cx="3337560" cy="2057400"/>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54864" bIns="54864"/>
          <a:lstStyle/>
          <a:p>
            <a:pPr algn="l" marL="0" indent="0">
              <a:spcBef>
                <a:spcPts val="0"/>
              </a:spcBef>
              <a:buNone/>
            </a:pPr>
            <a:r>
              <a:rPr sz="2100" b="1" i="0">
                <a:solidFill>
                  <a:srgbClr val="C00000"/>
                </a:solidFill>
                <a:latin typeface="Times New Roman"/>
                <a:cs typeface="Times New Roman"/>
              </a:rPr>
              <a:t>3  </a:t>
            </a:r>
            <a:r>
              <a:rPr sz="2100" b="1" i="0">
                <a:solidFill>
                  <a:srgbClr val="C00000"/>
                </a:solidFill>
                <a:latin typeface="Times New Roman"/>
                <a:cs typeface="Times New Roman"/>
              </a:rPr>
              <a:t>Detect duplicates</a:t>
            </a:r>
          </a:p>
          <a:p>
            <a:pPr algn="l" marL="0" indent="0">
              <a:spcBef>
                <a:spcPts val="800"/>
              </a:spcBef>
              <a:buNone/>
            </a:pPr>
            <a:r>
              <a:rPr sz="1700" b="0" i="0">
                <a:solidFill>
                  <a:srgbClr val="262626"/>
                </a:solidFill>
                <a:latin typeface="Times New Roman"/>
                <a:cs typeface="Times New Roman"/>
              </a:rPr>
              <a:t>GPS distance and text similarity warn before a repeat complaint is filed.</a:t>
            </a:r>
          </a:p>
        </p:txBody>
      </p:sp>
      <p:sp>
        <p:nvSpPr>
          <p:cNvPr id="12" name="Objective 4"/>
          <p:cNvSpPr/>
          <p:nvPr/>
        </p:nvSpPr>
        <p:spPr>
          <a:xfrm>
            <a:off x="841248" y="3840480"/>
            <a:ext cx="3337560" cy="2057400"/>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54864" bIns="54864"/>
          <a:lstStyle/>
          <a:p>
            <a:pPr algn="l" marL="0" indent="0">
              <a:spcBef>
                <a:spcPts val="0"/>
              </a:spcBef>
              <a:buNone/>
            </a:pPr>
            <a:r>
              <a:rPr sz="2100" b="1" i="0">
                <a:solidFill>
                  <a:srgbClr val="C00000"/>
                </a:solidFill>
                <a:latin typeface="Times New Roman"/>
                <a:cs typeface="Times New Roman"/>
              </a:rPr>
              <a:t>4  </a:t>
            </a:r>
            <a:r>
              <a:rPr sz="2100" b="1" i="0">
                <a:solidFill>
                  <a:srgbClr val="C00000"/>
                </a:solidFill>
                <a:latin typeface="Times New Roman"/>
                <a:cs typeface="Times New Roman"/>
              </a:rPr>
              <a:t>Route automatically</a:t>
            </a:r>
          </a:p>
          <a:p>
            <a:pPr algn="l" marL="0" indent="0">
              <a:spcBef>
                <a:spcPts val="800"/>
              </a:spcBef>
              <a:buNone/>
            </a:pPr>
            <a:r>
              <a:rPr sz="1700" b="0" i="0">
                <a:solidFill>
                  <a:srgbClr val="262626"/>
                </a:solidFill>
                <a:latin typeface="Times New Roman"/>
                <a:cs typeface="Times New Roman"/>
              </a:rPr>
              <a:t>Rules send each ticket to the right one of 10 municipal departments.</a:t>
            </a:r>
          </a:p>
        </p:txBody>
      </p:sp>
      <p:sp>
        <p:nvSpPr>
          <p:cNvPr id="13" name="Objective 5"/>
          <p:cNvSpPr/>
          <p:nvPr/>
        </p:nvSpPr>
        <p:spPr>
          <a:xfrm>
            <a:off x="4425696" y="3840480"/>
            <a:ext cx="3337560" cy="2057400"/>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54864" bIns="54864"/>
          <a:lstStyle/>
          <a:p>
            <a:pPr algn="l" marL="0" indent="0">
              <a:spcBef>
                <a:spcPts val="0"/>
              </a:spcBef>
              <a:buNone/>
            </a:pPr>
            <a:r>
              <a:rPr sz="2100" b="1" i="0">
                <a:solidFill>
                  <a:srgbClr val="C00000"/>
                </a:solidFill>
                <a:latin typeface="Times New Roman"/>
                <a:cs typeface="Times New Roman"/>
              </a:rPr>
              <a:t>5  </a:t>
            </a:r>
            <a:r>
              <a:rPr sz="2100" b="1" i="0">
                <a:solidFill>
                  <a:srgbClr val="C00000"/>
                </a:solidFill>
                <a:latin typeface="Times New Roman"/>
                <a:cs typeface="Times New Roman"/>
              </a:rPr>
              <a:t>Verify repairs</a:t>
            </a:r>
          </a:p>
          <a:p>
            <a:pPr algn="l" marL="0" indent="0">
              <a:spcBef>
                <a:spcPts val="800"/>
              </a:spcBef>
              <a:buNone/>
            </a:pPr>
            <a:r>
              <a:rPr sz="1700" b="0" i="0">
                <a:solidFill>
                  <a:srgbClr val="262626"/>
                </a:solidFill>
                <a:latin typeface="Times New Roman"/>
                <a:cs typeface="Times New Roman"/>
              </a:rPr>
              <a:t>Before/After AI comparison enforces proof of work on every resolution.</a:t>
            </a:r>
          </a:p>
        </p:txBody>
      </p:sp>
      <p:sp>
        <p:nvSpPr>
          <p:cNvPr id="14" name="Objective 6"/>
          <p:cNvSpPr/>
          <p:nvPr/>
        </p:nvSpPr>
        <p:spPr>
          <a:xfrm>
            <a:off x="8010144" y="3840480"/>
            <a:ext cx="3337560" cy="2057400"/>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54864" bIns="54864"/>
          <a:lstStyle/>
          <a:p>
            <a:pPr algn="l" marL="0" indent="0">
              <a:spcBef>
                <a:spcPts val="0"/>
              </a:spcBef>
              <a:buNone/>
            </a:pPr>
            <a:r>
              <a:rPr sz="2100" b="1" i="0">
                <a:solidFill>
                  <a:srgbClr val="C00000"/>
                </a:solidFill>
                <a:latin typeface="Times New Roman"/>
                <a:cs typeface="Times New Roman"/>
              </a:rPr>
              <a:t>6  </a:t>
            </a:r>
            <a:r>
              <a:rPr sz="2100" b="1" i="0">
                <a:solidFill>
                  <a:srgbClr val="C00000"/>
                </a:solidFill>
                <a:latin typeface="Times New Roman"/>
                <a:cs typeface="Times New Roman"/>
              </a:rPr>
              <a:t>Close the loop</a:t>
            </a:r>
          </a:p>
          <a:p>
            <a:pPr algn="l" marL="0" indent="0">
              <a:spcBef>
                <a:spcPts val="800"/>
              </a:spcBef>
              <a:buNone/>
            </a:pPr>
            <a:r>
              <a:rPr sz="1700" b="0" i="0">
                <a:solidFill>
                  <a:srgbClr val="262626"/>
                </a:solidFill>
                <a:latin typeface="Times New Roman"/>
                <a:cs typeface="Times New Roman"/>
              </a:rPr>
              <a:t>Directives, officer dispatch, quarantine triage and open data keep everyone accountable.</a:t>
            </a:r>
          </a:p>
        </p:txBody>
      </p:sp>
    </p:spTree>
    <p:extLst>
      <p:ext uri="{BB962C8B-B14F-4D97-AF65-F5344CB8AC3E}">
        <p14:creationId xmlns:p14="http://schemas.microsoft.com/office/powerpoint/2010/main" val="2217951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8FEA8-C384-12D9-AB4F-914A0FC4FC19}"/>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Project Scope </a:t>
            </a:r>
          </a:p>
        </p:txBody>
      </p:sp>
      <p:sp>
        <p:nvSpPr>
          <p:cNvPr id="3" name="Content Placeholder 2">
            <a:extLst>
              <a:ext uri="{FF2B5EF4-FFF2-40B4-BE49-F238E27FC236}">
                <a16:creationId xmlns:a16="http://schemas.microsoft.com/office/drawing/2014/main" id="{FBC0B15C-BAE5-AEC8-6CE9-C41F378D5706}"/>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389C5961-D989-CCB9-FD83-F855C7B0BD94}"/>
              </a:ext>
            </a:extLst>
          </p:cNvPr>
          <p:cNvSpPr>
            <a:spLocks noGrp="1"/>
          </p:cNvSpPr>
          <p:nvPr>
            <p:ph type="dt" sz="half" idx="10"/>
          </p:nvPr>
        </p:nvSpPr>
        <p:spPr/>
        <p:txBody>
          <a:bodyPr/>
          <a:lstStyle/>
          <a:p>
            <a:fld id="{D18A71FD-1390-4BA0-9817-771C1FA47802}" type="datetime1">
              <a:rPr lang="en-IN" smtClean="0"/>
              <a:t>02-10-2026</a:t>
            </a:fld>
            <a:endParaRPr lang="en-IN"/>
          </a:p>
        </p:txBody>
      </p:sp>
      <p:sp>
        <p:nvSpPr>
          <p:cNvPr id="6" name="Slide Number Placeholder 5">
            <a:extLst>
              <a:ext uri="{FF2B5EF4-FFF2-40B4-BE49-F238E27FC236}">
                <a16:creationId xmlns:a16="http://schemas.microsoft.com/office/drawing/2014/main" id="{FCD3A722-16A3-7F28-8B33-145DDBD14735}"/>
              </a:ext>
            </a:extLst>
          </p:cNvPr>
          <p:cNvSpPr>
            <a:spLocks noGrp="1"/>
          </p:cNvSpPr>
          <p:nvPr>
            <p:ph type="sldNum" sz="quarter" idx="12"/>
          </p:nvPr>
        </p:nvSpPr>
        <p:spPr/>
        <p:txBody>
          <a:bodyPr/>
          <a:lstStyle/>
          <a:p>
            <a:fld id="{47526DCF-DF60-4378-BFCC-D3A207344837}" type="slidenum">
              <a:rPr lang="en-IN" smtClean="0"/>
              <a:t>6</a:t>
            </a:fld>
            <a:endParaRPr lang="en-IN"/>
          </a:p>
        </p:txBody>
      </p:sp>
      <p:pic>
        <p:nvPicPr>
          <p:cNvPr id="8" name="Picture 7">
            <a:extLst>
              <a:ext uri="{FF2B5EF4-FFF2-40B4-BE49-F238E27FC236}">
                <a16:creationId xmlns:a16="http://schemas.microsoft.com/office/drawing/2014/main" id="{3555ACBE-92F0-F66A-20B2-BAA526B7039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80203" y="297924"/>
            <a:ext cx="1049749" cy="677182"/>
          </a:xfrm>
          <a:prstGeom prst="rect">
            <a:avLst/>
          </a:prstGeom>
          <a:noFill/>
          <a:ln>
            <a:noFill/>
          </a:ln>
        </p:spPr>
      </p:pic>
      <p:sp>
        <p:nvSpPr>
          <p:cNvPr id="9" name="Scope 1"/>
          <p:cNvSpPr/>
          <p:nvPr/>
        </p:nvSpPr>
        <p:spPr>
          <a:xfrm>
            <a:off x="841248" y="1600200"/>
            <a:ext cx="5166360" cy="2103120"/>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54864" bIns="54864"/>
          <a:lstStyle/>
          <a:p>
            <a:pPr algn="l" marL="0" indent="0">
              <a:spcBef>
                <a:spcPts val="0"/>
              </a:spcBef>
              <a:buNone/>
            </a:pPr>
            <a:r>
              <a:rPr sz="2100" b="1" i="0">
                <a:solidFill>
                  <a:srgbClr val="C00000"/>
                </a:solidFill>
                <a:latin typeface="Times New Roman"/>
                <a:cs typeface="Times New Roman"/>
              </a:rPr>
              <a:t>Users &amp; roles</a:t>
            </a:r>
          </a:p>
          <a:p>
            <a:pPr algn="l" marL="228600" indent="-228600">
              <a:spcBef>
                <a:spcPts val="600"/>
              </a:spcBef>
              <a:buFont typeface="Arial"/>
              <a:buChar char="•"/>
            </a:pPr>
            <a:r>
              <a:rPr sz="1700" b="0" i="0">
                <a:solidFill>
                  <a:srgbClr val="262626"/>
                </a:solidFill>
                <a:latin typeface="Times New Roman"/>
                <a:cs typeface="Times New Roman"/>
              </a:rPr>
              <a:t>Citizen, Department Officer, Admin with role-based access</a:t>
            </a:r>
          </a:p>
          <a:p>
            <a:pPr algn="l" marL="228600" indent="-228600">
              <a:spcBef>
                <a:spcPts val="600"/>
              </a:spcBef>
              <a:buFont typeface="Arial"/>
              <a:buChar char="•"/>
            </a:pPr>
            <a:r>
              <a:rPr sz="1700" b="0" i="0">
                <a:solidFill>
                  <a:srgbClr val="262626"/>
                </a:solidFill>
                <a:latin typeface="Times New Roman"/>
                <a:cs typeface="Times New Roman"/>
              </a:rPr>
              <a:t>Interface in English, Hindi, Telugu and Tamil</a:t>
            </a:r>
          </a:p>
        </p:txBody>
      </p:sp>
      <p:sp>
        <p:nvSpPr>
          <p:cNvPr id="10" name="Scope 2"/>
          <p:cNvSpPr/>
          <p:nvPr/>
        </p:nvSpPr>
        <p:spPr>
          <a:xfrm>
            <a:off x="6190488" y="1600200"/>
            <a:ext cx="5166360" cy="2103120"/>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54864" bIns="54864"/>
          <a:lstStyle/>
          <a:p>
            <a:pPr algn="l" marL="0" indent="0">
              <a:spcBef>
                <a:spcPts val="0"/>
              </a:spcBef>
              <a:buNone/>
            </a:pPr>
            <a:r>
              <a:rPr sz="2100" b="1" i="0">
                <a:solidFill>
                  <a:srgbClr val="C00000"/>
                </a:solidFill>
                <a:latin typeface="Times New Roman"/>
                <a:cs typeface="Times New Roman"/>
              </a:rPr>
              <a:t>Issues &amp; departments</a:t>
            </a:r>
          </a:p>
          <a:p>
            <a:pPr algn="l" marL="228600" indent="-228600">
              <a:spcBef>
                <a:spcPts val="600"/>
              </a:spcBef>
              <a:buFont typeface="Arial"/>
              <a:buChar char="•"/>
            </a:pPr>
            <a:r>
              <a:rPr sz="1700" b="0" i="0">
                <a:solidFill>
                  <a:srgbClr val="262626"/>
                </a:solidFill>
                <a:latin typeface="Times New Roman"/>
                <a:cs typeface="Times New Roman"/>
              </a:rPr>
              <a:t>Roads, Water, Electricity, Sanitation, Drainage</a:t>
            </a:r>
          </a:p>
          <a:p>
            <a:pPr algn="l" marL="228600" indent="-228600">
              <a:spcBef>
                <a:spcPts val="600"/>
              </a:spcBef>
              <a:buFont typeface="Arial"/>
              <a:buChar char="•"/>
            </a:pPr>
            <a:r>
              <a:rPr sz="1700" b="0" i="0">
                <a:solidFill>
                  <a:srgbClr val="262626"/>
                </a:solidFill>
                <a:latin typeface="Times New Roman"/>
                <a:cs typeface="Times New Roman"/>
              </a:rPr>
              <a:t>Traffic, Animal Control, Parks, Property, Others</a:t>
            </a:r>
          </a:p>
        </p:txBody>
      </p:sp>
      <p:sp>
        <p:nvSpPr>
          <p:cNvPr id="11" name="Scope 3"/>
          <p:cNvSpPr/>
          <p:nvPr/>
        </p:nvSpPr>
        <p:spPr>
          <a:xfrm>
            <a:off x="841248" y="3886200"/>
            <a:ext cx="5166360" cy="2103120"/>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54864" bIns="54864"/>
          <a:lstStyle/>
          <a:p>
            <a:pPr algn="l" marL="0" indent="0">
              <a:spcBef>
                <a:spcPts val="0"/>
              </a:spcBef>
              <a:buNone/>
            </a:pPr>
            <a:r>
              <a:rPr sz="2100" b="1" i="0">
                <a:solidFill>
                  <a:srgbClr val="C00000"/>
                </a:solidFill>
                <a:latin typeface="Times New Roman"/>
                <a:cs typeface="Times New Roman"/>
              </a:rPr>
              <a:t>Platform</a:t>
            </a:r>
          </a:p>
          <a:p>
            <a:pPr algn="l" marL="228600" indent="-228600">
              <a:spcBef>
                <a:spcPts val="600"/>
              </a:spcBef>
              <a:buFont typeface="Arial"/>
              <a:buChar char="•"/>
            </a:pPr>
            <a:r>
              <a:rPr sz="1700" b="0" i="0">
                <a:solidFill>
                  <a:srgbClr val="262626"/>
                </a:solidFill>
                <a:latin typeface="Times New Roman"/>
                <a:cs typeface="Times New Roman"/>
              </a:rPr>
              <a:t>Web app: HTML5, Bootstrap, Leaflet maps</a:t>
            </a:r>
          </a:p>
          <a:p>
            <a:pPr algn="l" marL="228600" indent="-228600">
              <a:spcBef>
                <a:spcPts val="600"/>
              </a:spcBef>
              <a:buFont typeface="Arial"/>
              <a:buChar char="•"/>
            </a:pPr>
            <a:r>
              <a:rPr sz="1700" b="0" i="0">
                <a:solidFill>
                  <a:srgbClr val="262626"/>
                </a:solidFill>
                <a:latin typeface="Times New Roman"/>
                <a:cs typeface="Times New Roman"/>
              </a:rPr>
              <a:t>Flask (local) and Node.js/Express (cloud); SQLite and Supabase PostgreSQL</a:t>
            </a:r>
          </a:p>
        </p:txBody>
      </p:sp>
      <p:sp>
        <p:nvSpPr>
          <p:cNvPr id="12" name="Scope 4"/>
          <p:cNvSpPr/>
          <p:nvPr/>
        </p:nvSpPr>
        <p:spPr>
          <a:xfrm>
            <a:off x="6190488" y="3886200"/>
            <a:ext cx="5166360" cy="2103120"/>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54864" bIns="54864"/>
          <a:lstStyle/>
          <a:p>
            <a:pPr algn="l" marL="0" indent="0">
              <a:spcBef>
                <a:spcPts val="0"/>
              </a:spcBef>
              <a:buNone/>
            </a:pPr>
            <a:r>
              <a:rPr sz="2100" b="1" i="0">
                <a:solidFill>
                  <a:srgbClr val="C00000"/>
                </a:solidFill>
                <a:latin typeface="Times New Roman"/>
                <a:cs typeface="Times New Roman"/>
              </a:rPr>
              <a:t>Governance &amp; transparency</a:t>
            </a:r>
          </a:p>
          <a:p>
            <a:pPr algn="l" marL="228600" indent="-228600">
              <a:spcBef>
                <a:spcPts val="600"/>
              </a:spcBef>
              <a:buFont typeface="Arial"/>
              <a:buChar char="•"/>
            </a:pPr>
            <a:r>
              <a:rPr sz="1700" b="0" i="0">
                <a:solidFill>
                  <a:srgbClr val="262626"/>
                </a:solidFill>
                <a:latin typeface="Times New Roman"/>
                <a:cs typeface="Times New Roman"/>
              </a:rPr>
              <a:t>Civic SOS with 6-hour SLA, geofencing, priority heatmap</a:t>
            </a:r>
          </a:p>
          <a:p>
            <a:pPr algn="l" marL="228600" indent="-228600">
              <a:spcBef>
                <a:spcPts val="600"/>
              </a:spcBef>
              <a:buFont typeface="Arial"/>
              <a:buChar char="•"/>
            </a:pPr>
            <a:r>
              <a:rPr sz="1700" b="0" i="0">
                <a:solidFill>
                  <a:srgbClr val="262626"/>
                </a:solidFill>
                <a:latin typeface="Times New Roman"/>
                <a:cs typeface="Times New Roman"/>
              </a:rPr>
              <a:t>Open Data API and CSV export</a:t>
            </a:r>
          </a:p>
        </p:txBody>
      </p:sp>
    </p:spTree>
    <p:extLst>
      <p:ext uri="{BB962C8B-B14F-4D97-AF65-F5344CB8AC3E}">
        <p14:creationId xmlns:p14="http://schemas.microsoft.com/office/powerpoint/2010/main" val="4234970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59C14-2B02-B270-5179-DFDBCC786CBB}"/>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Literature Review/ Background Study</a:t>
            </a:r>
          </a:p>
        </p:txBody>
      </p:sp>
      <p:sp>
        <p:nvSpPr>
          <p:cNvPr id="3" name="Content Placeholder 2">
            <a:extLst>
              <a:ext uri="{FF2B5EF4-FFF2-40B4-BE49-F238E27FC236}">
                <a16:creationId xmlns:a16="http://schemas.microsoft.com/office/drawing/2014/main" id="{A7CDC786-22BB-A884-8B53-DA269870884E}"/>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AEA7CDDA-2D40-BA62-8006-5B7536C152A6}"/>
              </a:ext>
            </a:extLst>
          </p:cNvPr>
          <p:cNvSpPr>
            <a:spLocks noGrp="1"/>
          </p:cNvSpPr>
          <p:nvPr>
            <p:ph type="dt" sz="half" idx="10"/>
          </p:nvPr>
        </p:nvSpPr>
        <p:spPr/>
        <p:txBody>
          <a:bodyPr/>
          <a:lstStyle/>
          <a:p>
            <a:fld id="{DE75B930-88B3-44D4-A202-6F4F8CAF65BF}" type="datetime1">
              <a:rPr lang="en-IN" smtClean="0"/>
              <a:t>02-10-2026</a:t>
            </a:fld>
            <a:endParaRPr lang="en-IN"/>
          </a:p>
        </p:txBody>
      </p:sp>
      <p:sp>
        <p:nvSpPr>
          <p:cNvPr id="6" name="Slide Number Placeholder 5">
            <a:extLst>
              <a:ext uri="{FF2B5EF4-FFF2-40B4-BE49-F238E27FC236}">
                <a16:creationId xmlns:a16="http://schemas.microsoft.com/office/drawing/2014/main" id="{39D0E2F4-4D03-64AC-6C32-461FDD377128}"/>
              </a:ext>
            </a:extLst>
          </p:cNvPr>
          <p:cNvSpPr>
            <a:spLocks noGrp="1"/>
          </p:cNvSpPr>
          <p:nvPr>
            <p:ph type="sldNum" sz="quarter" idx="12"/>
          </p:nvPr>
        </p:nvSpPr>
        <p:spPr/>
        <p:txBody>
          <a:bodyPr/>
          <a:lstStyle/>
          <a:p>
            <a:fld id="{47526DCF-DF60-4378-BFCC-D3A207344837}" type="slidenum">
              <a:rPr lang="en-IN" smtClean="0"/>
              <a:t>7</a:t>
            </a:fld>
            <a:endParaRPr lang="en-IN"/>
          </a:p>
        </p:txBody>
      </p:sp>
      <p:pic>
        <p:nvPicPr>
          <p:cNvPr id="8" name="Picture 7">
            <a:extLst>
              <a:ext uri="{FF2B5EF4-FFF2-40B4-BE49-F238E27FC236}">
                <a16:creationId xmlns:a16="http://schemas.microsoft.com/office/drawing/2014/main" id="{A84EFD5C-1004-C409-41F8-E5034B45ADD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80203" y="297924"/>
            <a:ext cx="1049749" cy="677182"/>
          </a:xfrm>
          <a:prstGeom prst="rect">
            <a:avLst/>
          </a:prstGeom>
          <a:noFill/>
          <a:ln>
            <a:noFill/>
          </a:ln>
        </p:spPr>
      </p:pic>
      <p:graphicFrame>
        <p:nvGraphicFramePr>
          <p:cNvPr id="9" name="Literature table"/>
          <p:cNvGraphicFramePr>
            <a:graphicFrameLocks noGrp="1"/>
          </p:cNvGraphicFramePr>
          <p:nvPr/>
        </p:nvGraphicFramePr>
        <p:xfrm>
          <a:off x="841248" y="1600200"/>
          <a:ext cx="10515600" cy="4480560"/>
        </p:xfrm>
        <a:graphic>
          <a:graphicData uri="http://schemas.openxmlformats.org/drawingml/2006/table">
            <a:tbl>
              <a:tblPr firstRow="0" bandRow="0">
                <a:tableStyleId>{5C22544A-7EE6-4342-B048-85BDC9FD1C3A}</a:tableStyleId>
              </a:tblPr>
              <a:tblGrid>
                <a:gridCol w="2286000"/>
                <a:gridCol w="3657600"/>
                <a:gridCol w="4572000"/>
              </a:tblGrid>
              <a:tr h="457200">
                <a:tc>
                  <a:txBody>
                    <a:bodyPr wrap="square"/>
                    <a:lstStyle/>
                    <a:p>
                      <a:r>
                        <a:rPr sz="1600" b="1" i="0">
                          <a:solidFill>
                            <a:srgbClr val="FFFFFF"/>
                          </a:solidFill>
                          <a:latin typeface="Times New Roman"/>
                          <a:cs typeface="Times New Roman"/>
                        </a:rPr>
                        <a:t>Area</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C00000"/>
                    </a:solidFill>
                  </a:tcPr>
                </a:tc>
                <a:tc>
                  <a:txBody>
                    <a:bodyPr wrap="square"/>
                    <a:lstStyle/>
                    <a:p>
                      <a:r>
                        <a:rPr sz="1600" b="1" i="0">
                          <a:solidFill>
                            <a:srgbClr val="FFFFFF"/>
                          </a:solidFill>
                          <a:latin typeface="Times New Roman"/>
                          <a:cs typeface="Times New Roman"/>
                        </a:rPr>
                        <a:t>Approach studied</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C00000"/>
                    </a:solidFill>
                  </a:tcPr>
                </a:tc>
                <a:tc>
                  <a:txBody>
                    <a:bodyPr wrap="square"/>
                    <a:lstStyle/>
                    <a:p>
                      <a:r>
                        <a:rPr sz="1600" b="1" i="0">
                          <a:solidFill>
                            <a:srgbClr val="FFFFFF"/>
                          </a:solidFill>
                          <a:latin typeface="Times New Roman"/>
                          <a:cs typeface="Times New Roman"/>
                        </a:rPr>
                        <a:t>Takeaway for SCS</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C00000"/>
                    </a:solidFill>
                  </a:tcPr>
                </a:tc>
              </a:tr>
              <a:tr h="804672">
                <a:tc>
                  <a:txBody>
                    <a:bodyPr wrap="square"/>
                    <a:lstStyle/>
                    <a:p>
                      <a:r>
                        <a:rPr sz="1600" b="1" i="0">
                          <a:solidFill>
                            <a:srgbClr val="262626"/>
                          </a:solidFill>
                          <a:latin typeface="Times New Roman"/>
                          <a:cs typeface="Times New Roman"/>
                        </a:rPr>
                        <a:t>Object detection</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r>
                        <a:rPr sz="1600" b="0" i="0">
                          <a:solidFill>
                            <a:srgbClr val="262626"/>
                          </a:solidFill>
                          <a:latin typeface="Times New Roman"/>
                          <a:cs typeface="Times New Roman"/>
                        </a:rPr>
                        <a:t>YOLO-style detectors for defect spotting [2]</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r>
                        <a:rPr sz="1600" b="0" i="0">
                          <a:solidFill>
                            <a:srgbClr val="262626"/>
                          </a:solidFill>
                          <a:latin typeface="Times New Roman"/>
                          <a:cs typeface="Times New Roman"/>
                        </a:rPr>
                        <a:t>Accurate but needs a local GPU; replaced by Gemini vision plus OpenCV</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804672">
                <a:tc>
                  <a:txBody>
                    <a:bodyPr wrap="square"/>
                    <a:lstStyle/>
                    <a:p>
                      <a:r>
                        <a:rPr sz="1600" b="1" i="0">
                          <a:solidFill>
                            <a:srgbClr val="262626"/>
                          </a:solidFill>
                          <a:latin typeface="Times New Roman"/>
                          <a:cs typeface="Times New Roman"/>
                        </a:rPr>
                        <a:t>Text classification</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8ECEC"/>
                    </a:solidFill>
                  </a:tcPr>
                </a:tc>
                <a:tc>
                  <a:txBody>
                    <a:bodyPr wrap="square"/>
                    <a:lstStyle/>
                    <a:p>
                      <a:r>
                        <a:rPr sz="1600" b="0" i="0">
                          <a:solidFill>
                            <a:srgbClr val="262626"/>
                          </a:solidFill>
                          <a:latin typeface="Times New Roman"/>
                          <a:cs typeface="Times New Roman"/>
                        </a:rPr>
                        <a:t>TF-IDF with n-grams [1]</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8ECEC"/>
                    </a:solidFill>
                  </a:tcPr>
                </a:tc>
                <a:tc>
                  <a:txBody>
                    <a:bodyPr wrap="square"/>
                    <a:lstStyle/>
                    <a:p>
                      <a:r>
                        <a:rPr sz="1600" b="0" i="0">
                          <a:solidFill>
                            <a:srgbClr val="262626"/>
                          </a:solidFill>
                          <a:latin typeface="Times New Roman"/>
                          <a:cs typeface="Times New Roman"/>
                        </a:rPr>
                        <a:t>Light, fast and explainable; used with cosine similarity for duplicates</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8ECEC"/>
                    </a:solidFill>
                  </a:tcPr>
                </a:tc>
              </a:tr>
              <a:tr h="804672">
                <a:tc>
                  <a:txBody>
                    <a:bodyPr wrap="square"/>
                    <a:lstStyle/>
                    <a:p>
                      <a:r>
                        <a:rPr sz="1600" b="1" i="0">
                          <a:solidFill>
                            <a:srgbClr val="262626"/>
                          </a:solidFill>
                          <a:latin typeface="Times New Roman"/>
                          <a:cs typeface="Times New Roman"/>
                        </a:rPr>
                        <a:t>Explainable AI</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r>
                        <a:rPr sz="1600" b="0" i="0">
                          <a:solidFill>
                            <a:srgbClr val="262626"/>
                          </a:solidFill>
                          <a:latin typeface="Times New Roman"/>
                          <a:cs typeface="Times New Roman"/>
                        </a:rPr>
                        <a:t>Feature-level explanations of predictions [3]</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r>
                        <a:rPr sz="1600" b="0" i="0">
                          <a:solidFill>
                            <a:srgbClr val="262626"/>
                          </a:solidFill>
                          <a:latin typeface="Times New Roman"/>
                          <a:cs typeface="Times New Roman"/>
                        </a:rPr>
                        <a:t>Trust needs reasons: confidence % and #keyword tags shown live</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804672">
                <a:tc>
                  <a:txBody>
                    <a:bodyPr wrap="square"/>
                    <a:lstStyle/>
                    <a:p>
                      <a:r>
                        <a:rPr sz="1600" b="1" i="0">
                          <a:solidFill>
                            <a:srgbClr val="262626"/>
                          </a:solidFill>
                          <a:latin typeface="Times New Roman"/>
                          <a:cs typeface="Times New Roman"/>
                        </a:rPr>
                        <a:t>Multimodal models</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8ECEC"/>
                    </a:solidFill>
                  </a:tcPr>
                </a:tc>
                <a:tc>
                  <a:txBody>
                    <a:bodyPr wrap="square"/>
                    <a:lstStyle/>
                    <a:p>
                      <a:r>
                        <a:rPr sz="1600" b="0" i="0">
                          <a:solidFill>
                            <a:srgbClr val="262626"/>
                          </a:solidFill>
                          <a:latin typeface="Times New Roman"/>
                          <a:cs typeface="Times New Roman"/>
                        </a:rPr>
                        <a:t>Gemini image-and-text reasoning [4]</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8ECEC"/>
                    </a:solidFill>
                  </a:tcPr>
                </a:tc>
                <a:tc>
                  <a:txBody>
                    <a:bodyPr wrap="square"/>
                    <a:lstStyle/>
                    <a:p>
                      <a:r>
                        <a:rPr sz="1600" b="0" i="0">
                          <a:solidFill>
                            <a:srgbClr val="262626"/>
                          </a:solidFill>
                          <a:latin typeface="Times New Roman"/>
                          <a:cs typeface="Times New Roman"/>
                        </a:rPr>
                        <a:t>Powers photo validation and Before/After comparison via API</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8ECEC"/>
                    </a:solidFill>
                  </a:tcPr>
                </a:tc>
              </a:tr>
              <a:tr h="804672">
                <a:tc>
                  <a:txBody>
                    <a:bodyPr wrap="square"/>
                    <a:lstStyle/>
                    <a:p>
                      <a:r>
                        <a:rPr sz="1600" b="1" i="0">
                          <a:solidFill>
                            <a:srgbClr val="262626"/>
                          </a:solidFill>
                          <a:latin typeface="Times New Roman"/>
                          <a:cs typeface="Times New Roman"/>
                        </a:rPr>
                        <a:t>Existing civic portals</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r>
                        <a:rPr sz="1600" b="0" i="0">
                          <a:solidFill>
                            <a:srgbClr val="262626"/>
                          </a:solidFill>
                          <a:latin typeface="Times New Roman"/>
                          <a:cs typeface="Times New Roman"/>
                        </a:rPr>
                        <a:t>Complaint collection forms</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r>
                        <a:rPr sz="1600" b="0" i="0">
                          <a:solidFill>
                            <a:srgbClr val="262626"/>
                          </a:solidFill>
                          <a:latin typeface="Times New Roman"/>
                          <a:cs typeface="Times New Roman"/>
                        </a:rPr>
                        <a:t>Manual routing, no duplicate check, no proof of work</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Tree>
    <p:extLst>
      <p:ext uri="{BB962C8B-B14F-4D97-AF65-F5344CB8AC3E}">
        <p14:creationId xmlns:p14="http://schemas.microsoft.com/office/powerpoint/2010/main" val="1150118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0DCCA-37C5-B802-67BD-50809562852E}"/>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Data Gathered/ Data Used</a:t>
            </a:r>
          </a:p>
        </p:txBody>
      </p:sp>
      <p:sp>
        <p:nvSpPr>
          <p:cNvPr id="3" name="Content Placeholder 2">
            <a:extLst>
              <a:ext uri="{FF2B5EF4-FFF2-40B4-BE49-F238E27FC236}">
                <a16:creationId xmlns:a16="http://schemas.microsoft.com/office/drawing/2014/main" id="{A7DBCA9F-57F0-F61B-39F7-21618BD0BD13}"/>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2B6F7C9E-6959-7DF2-0958-3377A79EDB7E}"/>
              </a:ext>
            </a:extLst>
          </p:cNvPr>
          <p:cNvSpPr>
            <a:spLocks noGrp="1"/>
          </p:cNvSpPr>
          <p:nvPr>
            <p:ph type="dt" sz="half" idx="10"/>
          </p:nvPr>
        </p:nvSpPr>
        <p:spPr/>
        <p:txBody>
          <a:bodyPr/>
          <a:lstStyle/>
          <a:p>
            <a:fld id="{10AC8817-4F34-43C2-AFBB-35605F3F6A14}" type="datetime1">
              <a:rPr lang="en-IN" smtClean="0"/>
              <a:t>02-10-2026</a:t>
            </a:fld>
            <a:endParaRPr lang="en-IN"/>
          </a:p>
        </p:txBody>
      </p:sp>
      <p:sp>
        <p:nvSpPr>
          <p:cNvPr id="6" name="Slide Number Placeholder 5">
            <a:extLst>
              <a:ext uri="{FF2B5EF4-FFF2-40B4-BE49-F238E27FC236}">
                <a16:creationId xmlns:a16="http://schemas.microsoft.com/office/drawing/2014/main" id="{7D4876AD-1BA9-F95A-15CD-7AD191B79662}"/>
              </a:ext>
            </a:extLst>
          </p:cNvPr>
          <p:cNvSpPr>
            <a:spLocks noGrp="1"/>
          </p:cNvSpPr>
          <p:nvPr>
            <p:ph type="sldNum" sz="quarter" idx="12"/>
          </p:nvPr>
        </p:nvSpPr>
        <p:spPr/>
        <p:txBody>
          <a:bodyPr/>
          <a:lstStyle/>
          <a:p>
            <a:fld id="{47526DCF-DF60-4378-BFCC-D3A207344837}" type="slidenum">
              <a:rPr lang="en-IN" smtClean="0"/>
              <a:t>8</a:t>
            </a:fld>
            <a:endParaRPr lang="en-IN"/>
          </a:p>
        </p:txBody>
      </p:sp>
      <p:pic>
        <p:nvPicPr>
          <p:cNvPr id="8" name="Picture 7">
            <a:extLst>
              <a:ext uri="{FF2B5EF4-FFF2-40B4-BE49-F238E27FC236}">
                <a16:creationId xmlns:a16="http://schemas.microsoft.com/office/drawing/2014/main" id="{266071DB-0521-6C96-24EB-B0E0C1F6113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80203" y="297924"/>
            <a:ext cx="1049749" cy="677182"/>
          </a:xfrm>
          <a:prstGeom prst="rect">
            <a:avLst/>
          </a:prstGeom>
          <a:noFill/>
          <a:ln>
            <a:noFill/>
          </a:ln>
        </p:spPr>
      </p:pic>
      <p:sp>
        <p:nvSpPr>
          <p:cNvPr id="9" name="Data 1"/>
          <p:cNvSpPr/>
          <p:nvPr/>
        </p:nvSpPr>
        <p:spPr>
          <a:xfrm>
            <a:off x="841248" y="1600200"/>
            <a:ext cx="2468880" cy="3291840"/>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54864" bIns="54864"/>
          <a:lstStyle/>
          <a:p>
            <a:pPr algn="l" marL="0" indent="0">
              <a:spcBef>
                <a:spcPts val="0"/>
              </a:spcBef>
              <a:buNone/>
            </a:pPr>
            <a:r>
              <a:rPr sz="2100" b="1" i="0">
                <a:solidFill>
                  <a:srgbClr val="C00000"/>
                </a:solidFill>
                <a:latin typeface="Times New Roman"/>
                <a:cs typeface="Times New Roman"/>
              </a:rPr>
              <a:t>Text</a:t>
            </a:r>
          </a:p>
          <a:p>
            <a:pPr algn="l" marL="228600" indent="-228600">
              <a:spcBef>
                <a:spcPts val="600"/>
              </a:spcBef>
              <a:buFont typeface="Arial"/>
              <a:buChar char="•"/>
            </a:pPr>
            <a:r>
              <a:rPr sz="1600" b="0" i="0">
                <a:solidFill>
                  <a:srgbClr val="262626"/>
                </a:solidFill>
                <a:latin typeface="Times New Roman"/>
                <a:cs typeface="Times New Roman"/>
              </a:rPr>
              <a:t>Complaint description, typed or by voice</a:t>
            </a:r>
          </a:p>
          <a:p>
            <a:pPr algn="l" marL="228600" indent="-228600">
              <a:spcBef>
                <a:spcPts val="600"/>
              </a:spcBef>
              <a:buFont typeface="Arial"/>
              <a:buChar char="•"/>
            </a:pPr>
            <a:r>
              <a:rPr sz="1600" b="0" i="0">
                <a:solidFill>
                  <a:srgbClr val="262626"/>
                </a:solidFill>
                <a:latin typeface="Times New Roman"/>
                <a:cs typeface="Times New Roman"/>
              </a:rPr>
              <a:t>Extracted #keywords and TF-IDF features</a:t>
            </a:r>
          </a:p>
          <a:p>
            <a:pPr algn="l" marL="228600" indent="-228600">
              <a:spcBef>
                <a:spcPts val="600"/>
              </a:spcBef>
              <a:buFont typeface="Arial"/>
              <a:buChar char="•"/>
            </a:pPr>
            <a:r>
              <a:rPr sz="1600" b="0" i="0">
                <a:solidFill>
                  <a:srgbClr val="262626"/>
                </a:solidFill>
                <a:latin typeface="Times New Roman"/>
                <a:cs typeface="Times New Roman"/>
              </a:rPr>
              <a:t>Predicted department and priority</a:t>
            </a:r>
          </a:p>
        </p:txBody>
      </p:sp>
      <p:sp>
        <p:nvSpPr>
          <p:cNvPr id="10" name="Data 2"/>
          <p:cNvSpPr/>
          <p:nvPr/>
        </p:nvSpPr>
        <p:spPr>
          <a:xfrm>
            <a:off x="3520440" y="1600200"/>
            <a:ext cx="2468880" cy="3291840"/>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54864" bIns="54864"/>
          <a:lstStyle/>
          <a:p>
            <a:pPr algn="l" marL="0" indent="0">
              <a:spcBef>
                <a:spcPts val="0"/>
              </a:spcBef>
              <a:buNone/>
            </a:pPr>
            <a:r>
              <a:rPr sz="2100" b="1" i="0">
                <a:solidFill>
                  <a:srgbClr val="C00000"/>
                </a:solidFill>
                <a:latin typeface="Times New Roman"/>
                <a:cs typeface="Times New Roman"/>
              </a:rPr>
              <a:t>Images</a:t>
            </a:r>
          </a:p>
          <a:p>
            <a:pPr algn="l" marL="228600" indent="-228600">
              <a:spcBef>
                <a:spcPts val="600"/>
              </a:spcBef>
              <a:buFont typeface="Arial"/>
              <a:buChar char="•"/>
            </a:pPr>
            <a:r>
              <a:rPr sz="1600" b="0" i="0">
                <a:solidFill>
                  <a:srgbClr val="262626"/>
                </a:solidFill>
                <a:latin typeface="Times New Roman"/>
                <a:cs typeface="Times New Roman"/>
              </a:rPr>
              <a:t>Citizen “Before” evidence photo</a:t>
            </a:r>
          </a:p>
          <a:p>
            <a:pPr algn="l" marL="228600" indent="-228600">
              <a:spcBef>
                <a:spcPts val="600"/>
              </a:spcBef>
              <a:buFont typeface="Arial"/>
              <a:buChar char="•"/>
            </a:pPr>
            <a:r>
              <a:rPr sz="1600" b="0" i="0">
                <a:solidFill>
                  <a:srgbClr val="262626"/>
                </a:solidFill>
                <a:latin typeface="Times New Roman"/>
                <a:cs typeface="Times New Roman"/>
              </a:rPr>
              <a:t>Officer “After” resolution photo</a:t>
            </a:r>
          </a:p>
          <a:p>
            <a:pPr algn="l" marL="228600" indent="-228600">
              <a:spcBef>
                <a:spcPts val="600"/>
              </a:spcBef>
              <a:buFont typeface="Arial"/>
              <a:buChar char="•"/>
            </a:pPr>
            <a:r>
              <a:rPr sz="1600" b="0" i="0">
                <a:solidFill>
                  <a:srgbClr val="262626"/>
                </a:solidFill>
                <a:latin typeface="Times New Roman"/>
                <a:cs typeface="Times New Roman"/>
              </a:rPr>
              <a:t>OpenCV features and match score</a:t>
            </a:r>
          </a:p>
        </p:txBody>
      </p:sp>
      <p:sp>
        <p:nvSpPr>
          <p:cNvPr id="11" name="Data 3"/>
          <p:cNvSpPr/>
          <p:nvPr/>
        </p:nvSpPr>
        <p:spPr>
          <a:xfrm>
            <a:off x="6199632" y="1600200"/>
            <a:ext cx="2468880" cy="3291840"/>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54864" bIns="54864"/>
          <a:lstStyle/>
          <a:p>
            <a:pPr algn="l" marL="0" indent="0">
              <a:spcBef>
                <a:spcPts val="0"/>
              </a:spcBef>
              <a:buNone/>
            </a:pPr>
            <a:r>
              <a:rPr sz="2100" b="1" i="0">
                <a:solidFill>
                  <a:srgbClr val="C00000"/>
                </a:solidFill>
                <a:latin typeface="Times New Roman"/>
                <a:cs typeface="Times New Roman"/>
              </a:rPr>
              <a:t>Location</a:t>
            </a:r>
          </a:p>
          <a:p>
            <a:pPr algn="l" marL="228600" indent="-228600">
              <a:spcBef>
                <a:spcPts val="600"/>
              </a:spcBef>
              <a:buFont typeface="Arial"/>
              <a:buChar char="•"/>
            </a:pPr>
            <a:r>
              <a:rPr sz="1600" b="0" i="0">
                <a:solidFill>
                  <a:srgbClr val="262626"/>
                </a:solidFill>
                <a:latin typeface="Times New Roman"/>
                <a:cs typeface="Times New Roman"/>
              </a:rPr>
              <a:t>Device GPS or map pin</a:t>
            </a:r>
          </a:p>
          <a:p>
            <a:pPr algn="l" marL="228600" indent="-228600">
              <a:spcBef>
                <a:spcPts val="600"/>
              </a:spcBef>
              <a:buFont typeface="Arial"/>
              <a:buChar char="•"/>
            </a:pPr>
            <a:r>
              <a:rPr sz="1600" b="0" i="0">
                <a:solidFill>
                  <a:srgbClr val="262626"/>
                </a:solidFill>
                <a:latin typeface="Times New Roman"/>
                <a:cs typeface="Times New Roman"/>
              </a:rPr>
              <a:t>Reverse-geocoded street address (Nominatim)</a:t>
            </a:r>
          </a:p>
          <a:p>
            <a:pPr algn="l" marL="228600" indent="-228600">
              <a:spcBef>
                <a:spcPts val="600"/>
              </a:spcBef>
              <a:buFont typeface="Arial"/>
              <a:buChar char="•"/>
            </a:pPr>
            <a:r>
              <a:rPr sz="1600" b="0" i="0">
                <a:solidFill>
                  <a:srgbClr val="262626"/>
                </a:solidFill>
                <a:latin typeface="Times New Roman"/>
                <a:cs typeface="Times New Roman"/>
              </a:rPr>
              <a:t>Community centre coordinates and radius</a:t>
            </a:r>
          </a:p>
        </p:txBody>
      </p:sp>
      <p:sp>
        <p:nvSpPr>
          <p:cNvPr id="12" name="Data 4"/>
          <p:cNvSpPr/>
          <p:nvPr/>
        </p:nvSpPr>
        <p:spPr>
          <a:xfrm>
            <a:off x="8878824" y="1600200"/>
            <a:ext cx="2468880" cy="3291840"/>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54864" bIns="54864"/>
          <a:lstStyle/>
          <a:p>
            <a:pPr algn="l" marL="0" indent="0">
              <a:spcBef>
                <a:spcPts val="0"/>
              </a:spcBef>
              <a:buNone/>
            </a:pPr>
            <a:r>
              <a:rPr sz="2100" b="1" i="0">
                <a:solidFill>
                  <a:srgbClr val="C00000"/>
                </a:solidFill>
                <a:latin typeface="Times New Roman"/>
                <a:cs typeface="Times New Roman"/>
              </a:rPr>
              <a:t>Activity</a:t>
            </a:r>
          </a:p>
          <a:p>
            <a:pPr algn="l" marL="228600" indent="-228600">
              <a:spcBef>
                <a:spcPts val="600"/>
              </a:spcBef>
              <a:buFont typeface="Arial"/>
              <a:buChar char="•"/>
            </a:pPr>
            <a:r>
              <a:rPr sz="1600" b="0" i="0">
                <a:solidFill>
                  <a:srgbClr val="262626"/>
                </a:solidFill>
                <a:latin typeface="Times New Roman"/>
                <a:cs typeface="Times New Roman"/>
              </a:rPr>
              <a:t>Status history: Pending, In Progress, Resolved</a:t>
            </a:r>
          </a:p>
          <a:p>
            <a:pPr algn="l" marL="228600" indent="-228600">
              <a:spcBef>
                <a:spcPts val="600"/>
              </a:spcBef>
              <a:buFont typeface="Arial"/>
              <a:buChar char="•"/>
            </a:pPr>
            <a:r>
              <a:rPr sz="1600" b="0" i="0">
                <a:solidFill>
                  <a:srgbClr val="262626"/>
                </a:solidFill>
                <a:latin typeface="Times New Roman"/>
                <a:cs typeface="Times New Roman"/>
              </a:rPr>
              <a:t>1–5 star ratings and feedback</a:t>
            </a:r>
          </a:p>
          <a:p>
            <a:pPr algn="l" marL="228600" indent="-228600">
              <a:spcBef>
                <a:spcPts val="600"/>
              </a:spcBef>
              <a:buFont typeface="Arial"/>
              <a:buChar char="•"/>
            </a:pPr>
            <a:r>
              <a:rPr sz="1600" b="0" i="0">
                <a:solidFill>
                  <a:srgbClr val="262626"/>
                </a:solidFill>
                <a:latin typeface="Times New Roman"/>
                <a:cs typeface="Times New Roman"/>
              </a:rPr>
              <a:t>Admin directives and officer responses</a:t>
            </a:r>
          </a:p>
        </p:txBody>
      </p:sp>
      <p:sp>
        <p:nvSpPr>
          <p:cNvPr id="13" name="Storage note"/>
          <p:cNvSpPr/>
          <p:nvPr/>
        </p:nvSpPr>
        <p:spPr>
          <a:xfrm>
            <a:off x="841248" y="5120640"/>
            <a:ext cx="10515600" cy="731520"/>
          </a:xfrm>
          <a:prstGeom prst="roundRect">
            <a:avLst>
              <a:gd name="adj" fmla="val 6000"/>
            </a:avLst>
          </a:prstGeom>
          <a:no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54864" bIns="54864"/>
          <a:lstStyle/>
          <a:p>
            <a:pPr algn="l" marL="0" indent="0">
              <a:spcBef>
                <a:spcPts val="0"/>
              </a:spcBef>
              <a:buNone/>
            </a:pPr>
            <a:r>
              <a:rPr sz="1600" b="0" i="0">
                <a:solidFill>
                  <a:srgbClr val="262626"/>
                </a:solidFill>
                <a:latin typeface="Times New Roman"/>
                <a:cs typeface="Times New Roman"/>
              </a:rPr>
              <a:t>Stored in </a:t>
            </a:r>
            <a:r>
              <a:rPr sz="1600" b="1" i="0">
                <a:solidFill>
                  <a:srgbClr val="262626"/>
                </a:solidFill>
                <a:latin typeface="Times New Roman"/>
                <a:cs typeface="Times New Roman"/>
              </a:rPr>
              <a:t>SQLite</a:t>
            </a:r>
            <a:r>
              <a:rPr sz="1600" b="0" i="0">
                <a:solidFill>
                  <a:srgbClr val="262626"/>
                </a:solidFill>
                <a:latin typeface="Times New Roman"/>
                <a:cs typeface="Times New Roman"/>
              </a:rPr>
              <a:t> for local use and </a:t>
            </a:r>
            <a:r>
              <a:rPr sz="1600" b="1" i="0">
                <a:solidFill>
                  <a:srgbClr val="262626"/>
                </a:solidFill>
                <a:latin typeface="Times New Roman"/>
                <a:cs typeface="Times New Roman"/>
              </a:rPr>
              <a:t>Supabase PostgreSQL</a:t>
            </a:r>
            <a:r>
              <a:rPr sz="1600" b="0" i="0">
                <a:solidFill>
                  <a:srgbClr val="262626"/>
                </a:solidFill>
                <a:latin typeface="Times New Roman"/>
                <a:cs typeface="Times New Roman"/>
              </a:rPr>
              <a:t> in the cloud; tickets are numbered </a:t>
            </a:r>
            <a:r>
              <a:rPr sz="1600" b="1" i="0">
                <a:solidFill>
                  <a:srgbClr val="262626"/>
                </a:solidFill>
                <a:latin typeface="Times New Roman"/>
                <a:cs typeface="Times New Roman"/>
              </a:rPr>
              <a:t>SCS-0001</a:t>
            </a:r>
            <a:r>
              <a:rPr sz="1600" b="0" i="0">
                <a:solidFill>
                  <a:srgbClr val="262626"/>
                </a:solidFill>
                <a:latin typeface="Times New Roman"/>
                <a:cs typeface="Times New Roman"/>
              </a:rPr>
              <a:t>.</a:t>
            </a:r>
          </a:p>
        </p:txBody>
      </p:sp>
    </p:spTree>
    <p:extLst>
      <p:ext uri="{BB962C8B-B14F-4D97-AF65-F5344CB8AC3E}">
        <p14:creationId xmlns:p14="http://schemas.microsoft.com/office/powerpoint/2010/main" val="399675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30110-51AF-7502-51AC-6C218D29466E}"/>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Methodology / System Design</a:t>
            </a:r>
          </a:p>
        </p:txBody>
      </p:sp>
      <p:sp>
        <p:nvSpPr>
          <p:cNvPr id="3" name="Content Placeholder 2">
            <a:extLst>
              <a:ext uri="{FF2B5EF4-FFF2-40B4-BE49-F238E27FC236}">
                <a16:creationId xmlns:a16="http://schemas.microsoft.com/office/drawing/2014/main" id="{C99629C4-E906-5C86-8EDD-4C2E1CC8F796}"/>
              </a:ext>
            </a:extLst>
          </p:cNvPr>
          <p:cNvSpPr>
            <a:spLocks noGrp="1"/>
          </p:cNvSpPr>
          <p:nvPr>
            <p:ph idx="1"/>
          </p:nvPr>
        </p:nvSpPr>
        <p:spPr>
          <a:xfrm>
            <a:off x="841248" y="1325880"/>
            <a:ext cx="5486400" cy="411480"/>
          </a:xfrm>
        </p:spPr>
        <p:txBody>
          <a:bodyPr wrap="square">
            <a:noAutofit/>
          </a:bodyPr>
          <a:lstStyle/>
          <a:p>
            <a:pPr marL="0" indent="0">
              <a:spcBef>
                <a:spcPts val="0"/>
              </a:spcBef>
              <a:buNone/>
            </a:pPr>
            <a:r>
              <a:rPr sz="1800" b="1" i="0">
                <a:solidFill>
                  <a:srgbClr val="C00000"/>
                </a:solidFill>
                <a:latin typeface="Times New Roman"/>
                <a:cs typeface="Times New Roman"/>
              </a:rPr>
              <a:t>Flow Chart</a:t>
            </a:r>
          </a:p>
        </p:txBody>
      </p:sp>
      <p:sp>
        <p:nvSpPr>
          <p:cNvPr id="4" name="Date Placeholder 3">
            <a:extLst>
              <a:ext uri="{FF2B5EF4-FFF2-40B4-BE49-F238E27FC236}">
                <a16:creationId xmlns:a16="http://schemas.microsoft.com/office/drawing/2014/main" id="{DCDECD8A-E1BD-594A-43F2-927C69F9EE94}"/>
              </a:ext>
            </a:extLst>
          </p:cNvPr>
          <p:cNvSpPr>
            <a:spLocks noGrp="1"/>
          </p:cNvSpPr>
          <p:nvPr>
            <p:ph type="dt" sz="half" idx="10"/>
          </p:nvPr>
        </p:nvSpPr>
        <p:spPr/>
        <p:txBody>
          <a:bodyPr/>
          <a:lstStyle/>
          <a:p>
            <a:fld id="{2CB2E081-F1B4-4E58-B59A-DB5EA8636B00}" type="datetime1">
              <a:rPr lang="en-IN" smtClean="0"/>
              <a:t>02-10-2026</a:t>
            </a:fld>
            <a:endParaRPr lang="en-IN"/>
          </a:p>
        </p:txBody>
      </p:sp>
      <p:sp>
        <p:nvSpPr>
          <p:cNvPr id="6" name="Slide Number Placeholder 5">
            <a:extLst>
              <a:ext uri="{FF2B5EF4-FFF2-40B4-BE49-F238E27FC236}">
                <a16:creationId xmlns:a16="http://schemas.microsoft.com/office/drawing/2014/main" id="{CED32E1F-EF2A-2160-FDB2-EBCAAA8B286D}"/>
              </a:ext>
            </a:extLst>
          </p:cNvPr>
          <p:cNvSpPr>
            <a:spLocks noGrp="1"/>
          </p:cNvSpPr>
          <p:nvPr>
            <p:ph type="sldNum" sz="quarter" idx="12"/>
          </p:nvPr>
        </p:nvSpPr>
        <p:spPr/>
        <p:txBody>
          <a:bodyPr/>
          <a:lstStyle/>
          <a:p>
            <a:fld id="{47526DCF-DF60-4378-BFCC-D3A207344837}" type="slidenum">
              <a:rPr lang="en-IN" smtClean="0"/>
              <a:t>9</a:t>
            </a:fld>
            <a:endParaRPr lang="en-IN"/>
          </a:p>
        </p:txBody>
      </p:sp>
      <p:pic>
        <p:nvPicPr>
          <p:cNvPr id="8" name="Picture 7">
            <a:extLst>
              <a:ext uri="{FF2B5EF4-FFF2-40B4-BE49-F238E27FC236}">
                <a16:creationId xmlns:a16="http://schemas.microsoft.com/office/drawing/2014/main" id="{B6BA0A72-4D8C-43BA-8FFD-E2924839655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80203" y="297924"/>
            <a:ext cx="1049749" cy="677182"/>
          </a:xfrm>
          <a:prstGeom prst="rect">
            <a:avLst/>
          </a:prstGeom>
          <a:noFill/>
          <a:ln>
            <a:noFill/>
          </a:ln>
        </p:spPr>
      </p:pic>
      <p:sp>
        <p:nvSpPr>
          <p:cNvPr id="9" name="Flow step 1"/>
          <p:cNvSpPr/>
          <p:nvPr/>
        </p:nvSpPr>
        <p:spPr>
          <a:xfrm>
            <a:off x="722376" y="1783080"/>
            <a:ext cx="1783080" cy="868680"/>
          </a:xfrm>
          <a:prstGeom prst="roundRect">
            <a:avLst>
              <a:gd name="adj" fmla="val 6000"/>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marL="0" indent="0">
              <a:spcBef>
                <a:spcPts val="0"/>
              </a:spcBef>
              <a:buNone/>
            </a:pPr>
            <a:r>
              <a:rPr sz="1250" b="1" i="0">
                <a:solidFill>
                  <a:srgbClr val="262626"/>
                </a:solidFill>
                <a:latin typeface="Times New Roman"/>
                <a:cs typeface="Times New Roman"/>
              </a:rPr>
              <a:t>1 </a:t>
            </a:r>
            <a:r>
              <a:rPr sz="1250" b="0" i="0">
                <a:solidFill>
                  <a:srgbClr val="262626"/>
                </a:solidFill>
                <a:latin typeface="Times New Roman"/>
                <a:cs typeface="Times New Roman"/>
              </a:rPr>
              <a:t>Citizen registers / logs in</a:t>
            </a:r>
          </a:p>
        </p:txBody>
      </p:sp>
      <p:cxnSp>
        <p:nvCxnSpPr>
          <p:cNvPr id="10" name="Connector 9"/>
          <p:cNvCxnSpPr/>
          <p:nvPr/>
        </p:nvCxnSpPr>
        <p:spPr>
          <a:xfrm>
            <a:off x="2505456" y="2217420"/>
            <a:ext cx="457200" cy="0"/>
          </a:xfrm>
          <a:prstGeom prst="line">
            <a:avLst/>
          </a:prstGeom>
          <a:ln w="2222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Flow step 2"/>
          <p:cNvSpPr/>
          <p:nvPr/>
        </p:nvSpPr>
        <p:spPr>
          <a:xfrm>
            <a:off x="2962656" y="1783080"/>
            <a:ext cx="1783080" cy="868680"/>
          </a:xfrm>
          <a:prstGeom prst="roundRect">
            <a:avLst>
              <a:gd name="adj" fmla="val 6000"/>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marL="0" indent="0">
              <a:spcBef>
                <a:spcPts val="0"/>
              </a:spcBef>
              <a:buNone/>
            </a:pPr>
            <a:r>
              <a:rPr sz="1250" b="1" i="0">
                <a:solidFill>
                  <a:srgbClr val="262626"/>
                </a:solidFill>
                <a:latin typeface="Times New Roman"/>
                <a:cs typeface="Times New Roman"/>
              </a:rPr>
              <a:t>2 </a:t>
            </a:r>
            <a:r>
              <a:rPr sz="1250" b="0" i="0">
                <a:solidFill>
                  <a:srgbClr val="262626"/>
                </a:solidFill>
                <a:latin typeface="Times New Roman"/>
                <a:cs typeface="Times New Roman"/>
              </a:rPr>
              <a:t>Describes issue: text or voice, photo, map pin</a:t>
            </a:r>
          </a:p>
        </p:txBody>
      </p:sp>
      <p:cxnSp>
        <p:nvCxnSpPr>
          <p:cNvPr id="12" name="Connector 11"/>
          <p:cNvCxnSpPr/>
          <p:nvPr/>
        </p:nvCxnSpPr>
        <p:spPr>
          <a:xfrm>
            <a:off x="4745736" y="2217420"/>
            <a:ext cx="457200" cy="0"/>
          </a:xfrm>
          <a:prstGeom prst="line">
            <a:avLst/>
          </a:prstGeom>
          <a:ln w="2222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Flow step 3"/>
          <p:cNvSpPr/>
          <p:nvPr/>
        </p:nvSpPr>
        <p:spPr>
          <a:xfrm>
            <a:off x="5202936" y="1783080"/>
            <a:ext cx="1783080" cy="868680"/>
          </a:xfrm>
          <a:prstGeom prst="roundRect">
            <a:avLst>
              <a:gd name="adj" fmla="val 6000"/>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marL="0" indent="0">
              <a:spcBef>
                <a:spcPts val="0"/>
              </a:spcBef>
              <a:buNone/>
            </a:pPr>
            <a:r>
              <a:rPr sz="1250" b="1" i="0">
                <a:solidFill>
                  <a:srgbClr val="262626"/>
                </a:solidFill>
                <a:latin typeface="Times New Roman"/>
                <a:cs typeface="Times New Roman"/>
              </a:rPr>
              <a:t>3 </a:t>
            </a:r>
            <a:r>
              <a:rPr sz="1250" b="0" i="0">
                <a:solidFill>
                  <a:srgbClr val="262626"/>
                </a:solidFill>
                <a:latin typeface="Times New Roman"/>
                <a:cs typeface="Times New Roman"/>
              </a:rPr>
              <a:t>Live XAI: department, confidence, priority, #keywords</a:t>
            </a:r>
          </a:p>
        </p:txBody>
      </p:sp>
      <p:cxnSp>
        <p:nvCxnSpPr>
          <p:cNvPr id="14" name="Connector 13"/>
          <p:cNvCxnSpPr/>
          <p:nvPr/>
        </p:nvCxnSpPr>
        <p:spPr>
          <a:xfrm>
            <a:off x="6986016" y="2217420"/>
            <a:ext cx="457200" cy="0"/>
          </a:xfrm>
          <a:prstGeom prst="line">
            <a:avLst/>
          </a:prstGeom>
          <a:ln w="2222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Flow step 4"/>
          <p:cNvSpPr/>
          <p:nvPr/>
        </p:nvSpPr>
        <p:spPr>
          <a:xfrm>
            <a:off x="7443216" y="1783080"/>
            <a:ext cx="1783080" cy="868680"/>
          </a:xfrm>
          <a:prstGeom prst="roundRect">
            <a:avLst>
              <a:gd name="adj" fmla="val 6000"/>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marL="0" indent="0">
              <a:spcBef>
                <a:spcPts val="0"/>
              </a:spcBef>
              <a:buNone/>
            </a:pPr>
            <a:r>
              <a:rPr sz="1250" b="1" i="0">
                <a:solidFill>
                  <a:srgbClr val="262626"/>
                </a:solidFill>
                <a:latin typeface="Times New Roman"/>
                <a:cs typeface="Times New Roman"/>
              </a:rPr>
              <a:t>4 </a:t>
            </a:r>
            <a:r>
              <a:rPr sz="1250" b="0" i="0">
                <a:solidFill>
                  <a:srgbClr val="262626"/>
                </a:solidFill>
                <a:latin typeface="Times New Roman"/>
                <a:cs typeface="Times New Roman"/>
              </a:rPr>
              <a:t>Duplicate and multi-department checks; optional Civic SOS</a:t>
            </a:r>
          </a:p>
        </p:txBody>
      </p:sp>
      <p:cxnSp>
        <p:nvCxnSpPr>
          <p:cNvPr id="16" name="Connector 15"/>
          <p:cNvCxnSpPr/>
          <p:nvPr/>
        </p:nvCxnSpPr>
        <p:spPr>
          <a:xfrm>
            <a:off x="9226296" y="2217420"/>
            <a:ext cx="457200" cy="0"/>
          </a:xfrm>
          <a:prstGeom prst="line">
            <a:avLst/>
          </a:prstGeom>
          <a:ln w="2222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Flow step 5"/>
          <p:cNvSpPr/>
          <p:nvPr/>
        </p:nvSpPr>
        <p:spPr>
          <a:xfrm>
            <a:off x="9683496" y="1783080"/>
            <a:ext cx="1783080" cy="868680"/>
          </a:xfrm>
          <a:prstGeom prst="roundRect">
            <a:avLst>
              <a:gd name="adj" fmla="val 6000"/>
            </a:avLst>
          </a:prstGeom>
          <a:solidFill>
            <a:srgbClr val="F8ECEC"/>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marL="0" indent="0">
              <a:spcBef>
                <a:spcPts val="0"/>
              </a:spcBef>
              <a:buNone/>
            </a:pPr>
            <a:r>
              <a:rPr sz="1250" b="1" i="0">
                <a:solidFill>
                  <a:srgbClr val="262626"/>
                </a:solidFill>
                <a:latin typeface="Times New Roman"/>
                <a:cs typeface="Times New Roman"/>
              </a:rPr>
              <a:t>5 </a:t>
            </a:r>
            <a:r>
              <a:rPr sz="1250" b="0" i="0">
                <a:solidFill>
                  <a:srgbClr val="262626"/>
                </a:solidFill>
                <a:latin typeface="Times New Roman"/>
                <a:cs typeface="Times New Roman"/>
              </a:rPr>
              <a:t>Ticket SCS-XXXX created and auto-routed</a:t>
            </a:r>
          </a:p>
        </p:txBody>
      </p:sp>
      <p:cxnSp>
        <p:nvCxnSpPr>
          <p:cNvPr id="18" name="Connector 17"/>
          <p:cNvCxnSpPr/>
          <p:nvPr/>
        </p:nvCxnSpPr>
        <p:spPr>
          <a:xfrm>
            <a:off x="10575036" y="2651760"/>
            <a:ext cx="0" cy="548640"/>
          </a:xfrm>
          <a:prstGeom prst="line">
            <a:avLst/>
          </a:prstGeom>
          <a:ln w="2222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Flow step 6"/>
          <p:cNvSpPr/>
          <p:nvPr/>
        </p:nvSpPr>
        <p:spPr>
          <a:xfrm>
            <a:off x="9683496" y="3200400"/>
            <a:ext cx="1783080" cy="868680"/>
          </a:xfrm>
          <a:prstGeom prst="roundRect">
            <a:avLst>
              <a:gd name="adj" fmla="val 6000"/>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marL="0" indent="0">
              <a:spcBef>
                <a:spcPts val="0"/>
              </a:spcBef>
              <a:buNone/>
            </a:pPr>
            <a:r>
              <a:rPr sz="1250" b="1" i="0">
                <a:solidFill>
                  <a:srgbClr val="262626"/>
                </a:solidFill>
                <a:latin typeface="Times New Roman"/>
                <a:cs typeface="Times New Roman"/>
              </a:rPr>
              <a:t>6 </a:t>
            </a:r>
            <a:r>
              <a:rPr sz="1250" b="0" i="0">
                <a:solidFill>
                  <a:srgbClr val="262626"/>
                </a:solidFill>
                <a:latin typeface="Times New Roman"/>
                <a:cs typeface="Times New Roman"/>
              </a:rPr>
              <a:t>Officer works ticket in department dashboard</a:t>
            </a:r>
          </a:p>
        </p:txBody>
      </p:sp>
      <p:sp>
        <p:nvSpPr>
          <p:cNvPr id="20" name="Flow step 7"/>
          <p:cNvSpPr/>
          <p:nvPr/>
        </p:nvSpPr>
        <p:spPr>
          <a:xfrm>
            <a:off x="7443216" y="3200400"/>
            <a:ext cx="1783080" cy="868680"/>
          </a:xfrm>
          <a:prstGeom prst="roundRect">
            <a:avLst>
              <a:gd name="adj" fmla="val 6000"/>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marL="0" indent="0">
              <a:spcBef>
                <a:spcPts val="0"/>
              </a:spcBef>
              <a:buNone/>
            </a:pPr>
            <a:r>
              <a:rPr sz="1250" b="1" i="0">
                <a:solidFill>
                  <a:srgbClr val="262626"/>
                </a:solidFill>
                <a:latin typeface="Times New Roman"/>
                <a:cs typeface="Times New Roman"/>
              </a:rPr>
              <a:t>7 </a:t>
            </a:r>
            <a:r>
              <a:rPr sz="1250" b="0" i="0">
                <a:solidFill>
                  <a:srgbClr val="262626"/>
                </a:solidFill>
                <a:latin typeface="Times New Roman"/>
                <a:cs typeface="Times New Roman"/>
              </a:rPr>
              <a:t>Uploads mandatory “After” photo</a:t>
            </a:r>
          </a:p>
        </p:txBody>
      </p:sp>
      <p:cxnSp>
        <p:nvCxnSpPr>
          <p:cNvPr id="21" name="Connector 20"/>
          <p:cNvCxnSpPr/>
          <p:nvPr/>
        </p:nvCxnSpPr>
        <p:spPr>
          <a:xfrm flipH="1">
            <a:off x="9226296" y="3634740"/>
            <a:ext cx="457200" cy="0"/>
          </a:xfrm>
          <a:prstGeom prst="line">
            <a:avLst/>
          </a:prstGeom>
          <a:ln w="2222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Flow decision"/>
          <p:cNvSpPr/>
          <p:nvPr/>
        </p:nvSpPr>
        <p:spPr>
          <a:xfrm>
            <a:off x="5157216" y="3017520"/>
            <a:ext cx="1874519" cy="1234440"/>
          </a:xfrm>
          <a:prstGeom prst="diamond">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marL="0" indent="0">
              <a:spcBef>
                <a:spcPts val="0"/>
              </a:spcBef>
              <a:buNone/>
            </a:pPr>
            <a:r>
              <a:rPr sz="1250" b="1" i="0">
                <a:solidFill>
                  <a:srgbClr val="262626"/>
                </a:solidFill>
                <a:latin typeface="Times New Roman"/>
                <a:cs typeface="Times New Roman"/>
              </a:rPr>
              <a:t>8 </a:t>
            </a:r>
            <a:r>
              <a:rPr sz="1250" b="0" i="0">
                <a:solidFill>
                  <a:srgbClr val="262626"/>
                </a:solidFill>
                <a:latin typeface="Times New Roman"/>
                <a:cs typeface="Times New Roman"/>
              </a:rPr>
              <a:t>AI Before vs After match?</a:t>
            </a:r>
          </a:p>
        </p:txBody>
      </p:sp>
      <p:cxnSp>
        <p:nvCxnSpPr>
          <p:cNvPr id="23" name="Connector 22"/>
          <p:cNvCxnSpPr/>
          <p:nvPr/>
        </p:nvCxnSpPr>
        <p:spPr>
          <a:xfrm flipH="1">
            <a:off x="7031736" y="3634740"/>
            <a:ext cx="411480" cy="0"/>
          </a:xfrm>
          <a:prstGeom prst="line">
            <a:avLst/>
          </a:prstGeom>
          <a:ln w="2222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4745736" y="3634740"/>
            <a:ext cx="411480" cy="0"/>
          </a:xfrm>
          <a:prstGeom prst="line">
            <a:avLst/>
          </a:prstGeom>
          <a:ln w="2222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Label match arrow"/>
          <p:cNvSpPr/>
          <p:nvPr/>
        </p:nvSpPr>
        <p:spPr>
          <a:xfrm>
            <a:off x="4727448" y="3323844"/>
            <a:ext cx="457200" cy="274320"/>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54864" bIns="54864"/>
          <a:lstStyle/>
          <a:p>
            <a:pPr algn="ctr" marL="0" indent="0">
              <a:spcBef>
                <a:spcPts val="0"/>
              </a:spcBef>
              <a:buNone/>
            </a:pPr>
            <a:r>
              <a:rPr sz="1100" b="1" i="0">
                <a:solidFill>
                  <a:srgbClr val="2E7D32"/>
                </a:solidFill>
                <a:latin typeface="Times New Roman"/>
                <a:cs typeface="Times New Roman"/>
              </a:rPr>
              <a:t>Match</a:t>
            </a:r>
          </a:p>
        </p:txBody>
      </p:sp>
      <p:sp>
        <p:nvSpPr>
          <p:cNvPr id="26" name="Flow step 9"/>
          <p:cNvSpPr/>
          <p:nvPr/>
        </p:nvSpPr>
        <p:spPr>
          <a:xfrm>
            <a:off x="2962656" y="3200400"/>
            <a:ext cx="1783080" cy="868680"/>
          </a:xfrm>
          <a:prstGeom prst="roundRect">
            <a:avLst>
              <a:gd name="adj" fmla="val 6000"/>
            </a:avLst>
          </a:prstGeom>
          <a:solidFill>
            <a:srgbClr val="F8ECEC"/>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marL="0" indent="0">
              <a:spcBef>
                <a:spcPts val="0"/>
              </a:spcBef>
              <a:buNone/>
            </a:pPr>
            <a:r>
              <a:rPr sz="1250" b="1" i="0">
                <a:solidFill>
                  <a:srgbClr val="262626"/>
                </a:solidFill>
                <a:latin typeface="Times New Roman"/>
                <a:cs typeface="Times New Roman"/>
              </a:rPr>
              <a:t>9 </a:t>
            </a:r>
            <a:r>
              <a:rPr sz="1250" b="0" i="0">
                <a:solidFill>
                  <a:srgbClr val="262626"/>
                </a:solidFill>
                <a:latin typeface="Times New Roman"/>
                <a:cs typeface="Times New Roman"/>
              </a:rPr>
              <a:t>Status: Resolved; citizen sees proof photo</a:t>
            </a:r>
          </a:p>
        </p:txBody>
      </p:sp>
      <p:sp>
        <p:nvSpPr>
          <p:cNvPr id="27" name="Flow step 10"/>
          <p:cNvSpPr/>
          <p:nvPr/>
        </p:nvSpPr>
        <p:spPr>
          <a:xfrm>
            <a:off x="722376" y="3200400"/>
            <a:ext cx="1783080" cy="868680"/>
          </a:xfrm>
          <a:prstGeom prst="roundRect">
            <a:avLst>
              <a:gd name="adj" fmla="val 6000"/>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marL="0" indent="0">
              <a:spcBef>
                <a:spcPts val="0"/>
              </a:spcBef>
              <a:buNone/>
            </a:pPr>
            <a:r>
              <a:rPr sz="1250" b="1" i="0">
                <a:solidFill>
                  <a:srgbClr val="262626"/>
                </a:solidFill>
                <a:latin typeface="Times New Roman"/>
                <a:cs typeface="Times New Roman"/>
              </a:rPr>
              <a:t>10 </a:t>
            </a:r>
            <a:r>
              <a:rPr sz="1250" b="0" i="0">
                <a:solidFill>
                  <a:srgbClr val="262626"/>
                </a:solidFill>
                <a:latin typeface="Times New Roman"/>
                <a:cs typeface="Times New Roman"/>
              </a:rPr>
              <a:t>Citizen rates 1–5 stars and gives feedback</a:t>
            </a:r>
          </a:p>
        </p:txBody>
      </p:sp>
      <p:cxnSp>
        <p:nvCxnSpPr>
          <p:cNvPr id="28" name="Connector 27"/>
          <p:cNvCxnSpPr/>
          <p:nvPr/>
        </p:nvCxnSpPr>
        <p:spPr>
          <a:xfrm flipH="1">
            <a:off x="2505456" y="3634740"/>
            <a:ext cx="457200" cy="0"/>
          </a:xfrm>
          <a:prstGeom prst="line">
            <a:avLst/>
          </a:prstGeom>
          <a:ln w="2222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094476" y="4251960"/>
            <a:ext cx="0" cy="457200"/>
          </a:xfrm>
          <a:prstGeom prst="line">
            <a:avLst/>
          </a:prstGeom>
          <a:ln w="2222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Label mismatch"/>
          <p:cNvSpPr/>
          <p:nvPr/>
        </p:nvSpPr>
        <p:spPr>
          <a:xfrm>
            <a:off x="6185916" y="4270248"/>
            <a:ext cx="914400" cy="320040"/>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54864" bIns="54864"/>
          <a:lstStyle/>
          <a:p>
            <a:pPr algn="l" marL="0" indent="0">
              <a:spcBef>
                <a:spcPts val="0"/>
              </a:spcBef>
              <a:buNone/>
            </a:pPr>
            <a:r>
              <a:rPr sz="1200" b="1" i="0">
                <a:solidFill>
                  <a:srgbClr val="C00000"/>
                </a:solidFill>
                <a:latin typeface="Times New Roman"/>
                <a:cs typeface="Times New Roman"/>
              </a:rPr>
              <a:t>Mismatch</a:t>
            </a:r>
          </a:p>
        </p:txBody>
      </p:sp>
      <p:sp>
        <p:nvSpPr>
          <p:cNvPr id="31" name="Flow step 11"/>
          <p:cNvSpPr/>
          <p:nvPr/>
        </p:nvSpPr>
        <p:spPr>
          <a:xfrm>
            <a:off x="5202936" y="4709160"/>
            <a:ext cx="1783080" cy="868680"/>
          </a:xfrm>
          <a:prstGeom prst="roundRect">
            <a:avLst>
              <a:gd name="adj" fmla="val 6000"/>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marL="0" indent="0">
              <a:spcBef>
                <a:spcPts val="0"/>
              </a:spcBef>
              <a:buNone/>
            </a:pPr>
            <a:r>
              <a:rPr sz="1250" b="1" i="0">
                <a:solidFill>
                  <a:srgbClr val="262626"/>
                </a:solidFill>
                <a:latin typeface="Times New Roman"/>
                <a:cs typeface="Times New Roman"/>
              </a:rPr>
              <a:t>11 </a:t>
            </a:r>
            <a:r>
              <a:rPr sz="1250" b="0" i="0">
                <a:solidFill>
                  <a:srgbClr val="262626"/>
                </a:solidFill>
                <a:latin typeface="Times New Roman"/>
                <a:cs typeface="Times New Roman"/>
              </a:rPr>
              <a:t>Admin Quarantine Desk triages the flag</a:t>
            </a:r>
          </a:p>
        </p:txBody>
      </p:sp>
      <p:sp>
        <p:nvSpPr>
          <p:cNvPr id="32" name="Flow step 12"/>
          <p:cNvSpPr/>
          <p:nvPr/>
        </p:nvSpPr>
        <p:spPr>
          <a:xfrm>
            <a:off x="7443216" y="4709160"/>
            <a:ext cx="1783080" cy="868680"/>
          </a:xfrm>
          <a:prstGeom prst="roundRect">
            <a:avLst>
              <a:gd name="adj" fmla="val 6000"/>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marL="0" indent="0">
              <a:spcBef>
                <a:spcPts val="0"/>
              </a:spcBef>
              <a:buNone/>
            </a:pPr>
            <a:r>
              <a:rPr sz="1250" b="1" i="0">
                <a:solidFill>
                  <a:srgbClr val="262626"/>
                </a:solidFill>
                <a:latin typeface="Times New Roman"/>
                <a:cs typeface="Times New Roman"/>
              </a:rPr>
              <a:t>12 </a:t>
            </a:r>
            <a:r>
              <a:rPr sz="1250" b="0" i="0">
                <a:solidFill>
                  <a:srgbClr val="262626"/>
                </a:solidFill>
                <a:latin typeface="Times New Roman"/>
                <a:cs typeface="Times New Roman"/>
              </a:rPr>
              <a:t>Admin clicks “Reject Resolution”</a:t>
            </a:r>
          </a:p>
        </p:txBody>
      </p:sp>
      <p:cxnSp>
        <p:nvCxnSpPr>
          <p:cNvPr id="33" name="Connector 32"/>
          <p:cNvCxnSpPr/>
          <p:nvPr/>
        </p:nvCxnSpPr>
        <p:spPr>
          <a:xfrm>
            <a:off x="6986016" y="5143500"/>
            <a:ext cx="457200" cy="0"/>
          </a:xfrm>
          <a:prstGeom prst="line">
            <a:avLst/>
          </a:prstGeom>
          <a:ln w="2222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334756" y="4069080"/>
            <a:ext cx="0" cy="640080"/>
          </a:xfrm>
          <a:prstGeom prst="line">
            <a:avLst/>
          </a:prstGeom>
          <a:ln w="2222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Loop note"/>
          <p:cNvSpPr/>
          <p:nvPr/>
        </p:nvSpPr>
        <p:spPr>
          <a:xfrm>
            <a:off x="9409176" y="4754880"/>
            <a:ext cx="2514600" cy="777240"/>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54864" bIns="54864"/>
          <a:lstStyle/>
          <a:p>
            <a:pPr algn="l" marL="0" indent="0">
              <a:spcBef>
                <a:spcPts val="0"/>
              </a:spcBef>
              <a:buNone/>
            </a:pPr>
            <a:r>
              <a:rPr sz="1250" b="0" i="1">
                <a:solidFill>
                  <a:srgbClr val="595959"/>
                </a:solidFill>
                <a:latin typeface="Times New Roman"/>
                <a:cs typeface="Times New Roman"/>
              </a:rPr>
              <a:t>Ticket returns to In Progress for re-inspection; the citizen’s complaint is not rejected.</a:t>
            </a:r>
          </a:p>
        </p:txBody>
      </p:sp>
    </p:spTree>
    <p:extLst>
      <p:ext uri="{BB962C8B-B14F-4D97-AF65-F5344CB8AC3E}">
        <p14:creationId xmlns:p14="http://schemas.microsoft.com/office/powerpoint/2010/main" val="319586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08D49-10AC-9C01-4FAD-F7330B269D02}"/>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Methodology/ System Design(cont.)</a:t>
            </a:r>
            <a:endParaRPr lang="en-IN" dirty="0"/>
          </a:p>
        </p:txBody>
      </p:sp>
      <p:sp>
        <p:nvSpPr>
          <p:cNvPr id="3" name="Content Placeholder 2">
            <a:extLst>
              <a:ext uri="{FF2B5EF4-FFF2-40B4-BE49-F238E27FC236}">
                <a16:creationId xmlns:a16="http://schemas.microsoft.com/office/drawing/2014/main" id="{C22BDB66-F142-AB58-0A08-67AF99A00E2E}"/>
              </a:ext>
            </a:extLst>
          </p:cNvPr>
          <p:cNvSpPr>
            <a:spLocks noGrp="1"/>
          </p:cNvSpPr>
          <p:nvPr>
            <p:ph idx="1"/>
          </p:nvPr>
        </p:nvSpPr>
        <p:spPr>
          <a:xfrm>
            <a:off x="841248" y="1325880"/>
            <a:ext cx="5486400" cy="411480"/>
          </a:xfrm>
        </p:spPr>
        <p:txBody>
          <a:bodyPr wrap="square">
            <a:noAutofit/>
          </a:bodyPr>
          <a:lstStyle/>
          <a:p>
            <a:pPr marL="0" indent="0">
              <a:spcBef>
                <a:spcPts val="0"/>
              </a:spcBef>
              <a:buNone/>
            </a:pPr>
            <a:r>
              <a:rPr sz="1800" b="1" i="0">
                <a:solidFill>
                  <a:srgbClr val="C00000"/>
                </a:solidFill>
                <a:latin typeface="Times New Roman"/>
                <a:cs typeface="Times New Roman"/>
              </a:rPr>
              <a:t>Block Diagram: 4-tier architecture</a:t>
            </a:r>
          </a:p>
        </p:txBody>
      </p:sp>
      <p:sp>
        <p:nvSpPr>
          <p:cNvPr id="4" name="Date Placeholder 3">
            <a:extLst>
              <a:ext uri="{FF2B5EF4-FFF2-40B4-BE49-F238E27FC236}">
                <a16:creationId xmlns:a16="http://schemas.microsoft.com/office/drawing/2014/main" id="{C6CC0D40-7F04-03A5-2DCE-D25BBBF6B8BA}"/>
              </a:ext>
            </a:extLst>
          </p:cNvPr>
          <p:cNvSpPr>
            <a:spLocks noGrp="1"/>
          </p:cNvSpPr>
          <p:nvPr>
            <p:ph type="dt" sz="half" idx="10"/>
          </p:nvPr>
        </p:nvSpPr>
        <p:spPr/>
        <p:txBody>
          <a:bodyPr/>
          <a:lstStyle/>
          <a:p>
            <a:fld id="{57D3F38D-1EB3-4DB2-A750-823A1A97BFA2}" type="datetime1">
              <a:rPr lang="en-IN" smtClean="0"/>
              <a:t>02-10-2026</a:t>
            </a:fld>
            <a:endParaRPr lang="en-IN"/>
          </a:p>
        </p:txBody>
      </p:sp>
      <p:sp>
        <p:nvSpPr>
          <p:cNvPr id="6" name="Slide Number Placeholder 5">
            <a:extLst>
              <a:ext uri="{FF2B5EF4-FFF2-40B4-BE49-F238E27FC236}">
                <a16:creationId xmlns:a16="http://schemas.microsoft.com/office/drawing/2014/main" id="{7B549A0E-E589-F2DF-8882-F3F874F4C3EB}"/>
              </a:ext>
            </a:extLst>
          </p:cNvPr>
          <p:cNvSpPr>
            <a:spLocks noGrp="1"/>
          </p:cNvSpPr>
          <p:nvPr>
            <p:ph type="sldNum" sz="quarter" idx="12"/>
          </p:nvPr>
        </p:nvSpPr>
        <p:spPr/>
        <p:txBody>
          <a:bodyPr/>
          <a:lstStyle/>
          <a:p>
            <a:fld id="{47526DCF-DF60-4378-BFCC-D3A207344837}" type="slidenum">
              <a:rPr lang="en-IN" smtClean="0"/>
              <a:t>10</a:t>
            </a:fld>
            <a:endParaRPr lang="en-IN"/>
          </a:p>
        </p:txBody>
      </p:sp>
      <p:pic>
        <p:nvPicPr>
          <p:cNvPr id="8" name="Picture 7">
            <a:extLst>
              <a:ext uri="{FF2B5EF4-FFF2-40B4-BE49-F238E27FC236}">
                <a16:creationId xmlns:a16="http://schemas.microsoft.com/office/drawing/2014/main" id="{E7020BEA-D4F0-01C9-E117-A16C361917F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80203" y="297924"/>
            <a:ext cx="1049749" cy="677182"/>
          </a:xfrm>
          <a:prstGeom prst="rect">
            <a:avLst/>
          </a:prstGeom>
          <a:noFill/>
          <a:ln>
            <a:noFill/>
          </a:ln>
        </p:spPr>
      </p:pic>
      <p:sp>
        <p:nvSpPr>
          <p:cNvPr id="9" name="Tier label 1"/>
          <p:cNvSpPr/>
          <p:nvPr/>
        </p:nvSpPr>
        <p:spPr>
          <a:xfrm>
            <a:off x="841248" y="1783080"/>
            <a:ext cx="2286000" cy="987552"/>
          </a:xfrm>
          <a:prstGeom prst="roundRect">
            <a:avLst>
              <a:gd name="adj" fmla="val 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marL="0" indent="0">
              <a:spcBef>
                <a:spcPts val="0"/>
              </a:spcBef>
              <a:buNone/>
            </a:pPr>
            <a:r>
              <a:rPr sz="1600" b="1" i="0">
                <a:solidFill>
                  <a:srgbClr val="FFFFFF"/>
                </a:solidFill>
                <a:latin typeface="Times New Roman"/>
                <a:cs typeface="Times New Roman"/>
              </a:rPr>
              <a:t>Presentation layer</a:t>
            </a:r>
          </a:p>
        </p:txBody>
      </p:sp>
      <p:sp>
        <p:nvSpPr>
          <p:cNvPr id="10" name="Tier 1 item 1"/>
          <p:cNvSpPr/>
          <p:nvPr/>
        </p:nvSpPr>
        <p:spPr>
          <a:xfrm>
            <a:off x="3291840" y="1783080"/>
            <a:ext cx="2651760" cy="987552"/>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marL="0" indent="0">
              <a:spcBef>
                <a:spcPts val="0"/>
              </a:spcBef>
              <a:buNone/>
            </a:pPr>
            <a:r>
              <a:rPr sz="1400" b="0" i="0">
                <a:solidFill>
                  <a:srgbClr val="262626"/>
                </a:solidFill>
                <a:latin typeface="Times New Roman"/>
                <a:cs typeface="Times New Roman"/>
              </a:rPr>
              <a:t>HTML5, CSS3, Bootstrap, JavaScript</a:t>
            </a:r>
          </a:p>
        </p:txBody>
      </p:sp>
      <p:sp>
        <p:nvSpPr>
          <p:cNvPr id="11" name="Tier 1 item 2"/>
          <p:cNvSpPr/>
          <p:nvPr/>
        </p:nvSpPr>
        <p:spPr>
          <a:xfrm>
            <a:off x="6080760" y="1783080"/>
            <a:ext cx="2651760" cy="987552"/>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marL="0" indent="0">
              <a:spcBef>
                <a:spcPts val="0"/>
              </a:spcBef>
              <a:buNone/>
            </a:pPr>
            <a:r>
              <a:rPr sz="1400" b="0" i="0">
                <a:solidFill>
                  <a:srgbClr val="262626"/>
                </a:solidFill>
                <a:latin typeface="Times New Roman"/>
                <a:cs typeface="Times New Roman"/>
              </a:rPr>
              <a:t>Leaflet.js with OpenStreetMap / CartoDB maps</a:t>
            </a:r>
          </a:p>
        </p:txBody>
      </p:sp>
      <p:sp>
        <p:nvSpPr>
          <p:cNvPr id="12" name="Tier 1 item 3"/>
          <p:cNvSpPr/>
          <p:nvPr/>
        </p:nvSpPr>
        <p:spPr>
          <a:xfrm>
            <a:off x="8869680" y="1783080"/>
            <a:ext cx="2651760" cy="987552"/>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marL="0" indent="0">
              <a:spcBef>
                <a:spcPts val="0"/>
              </a:spcBef>
              <a:buNone/>
            </a:pPr>
            <a:r>
              <a:rPr sz="1400" b="0" i="0">
                <a:solidFill>
                  <a:srgbClr val="262626"/>
                </a:solidFill>
                <a:latin typeface="Times New Roman"/>
                <a:cs typeface="Times New Roman"/>
              </a:rPr>
              <a:t>Web Speech API voice input; dark mode; 4 languages</a:t>
            </a:r>
          </a:p>
        </p:txBody>
      </p:sp>
      <p:sp>
        <p:nvSpPr>
          <p:cNvPr id="13" name="Tier label 2"/>
          <p:cNvSpPr/>
          <p:nvPr/>
        </p:nvSpPr>
        <p:spPr>
          <a:xfrm>
            <a:off x="841248" y="2898648"/>
            <a:ext cx="2286000" cy="987552"/>
          </a:xfrm>
          <a:prstGeom prst="roundRect">
            <a:avLst>
              <a:gd name="adj" fmla="val 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marL="0" indent="0">
              <a:spcBef>
                <a:spcPts val="0"/>
              </a:spcBef>
              <a:buNone/>
            </a:pPr>
            <a:r>
              <a:rPr sz="1600" b="1" i="0">
                <a:solidFill>
                  <a:srgbClr val="FFFFFF"/>
                </a:solidFill>
                <a:latin typeface="Times New Roman"/>
                <a:cs typeface="Times New Roman"/>
              </a:rPr>
              <a:t>Application layer</a:t>
            </a:r>
          </a:p>
        </p:txBody>
      </p:sp>
      <p:sp>
        <p:nvSpPr>
          <p:cNvPr id="14" name="Tier 2 item 1"/>
          <p:cNvSpPr/>
          <p:nvPr/>
        </p:nvSpPr>
        <p:spPr>
          <a:xfrm>
            <a:off x="3291840" y="2898648"/>
            <a:ext cx="2651760" cy="987552"/>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marL="0" indent="0">
              <a:spcBef>
                <a:spcPts val="0"/>
              </a:spcBef>
              <a:buNone/>
            </a:pPr>
            <a:r>
              <a:rPr sz="1400" b="0" i="0">
                <a:solidFill>
                  <a:srgbClr val="262626"/>
                </a:solidFill>
                <a:latin typeface="Times New Roman"/>
                <a:cs typeface="Times New Roman"/>
              </a:rPr>
              <a:t>Python / Flask (app.py): ML routing, local runs</a:t>
            </a:r>
          </a:p>
        </p:txBody>
      </p:sp>
      <p:sp>
        <p:nvSpPr>
          <p:cNvPr id="15" name="Tier 2 item 2"/>
          <p:cNvSpPr/>
          <p:nvPr/>
        </p:nvSpPr>
        <p:spPr>
          <a:xfrm>
            <a:off x="6080760" y="2898648"/>
            <a:ext cx="2651760" cy="987552"/>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marL="0" indent="0">
              <a:spcBef>
                <a:spcPts val="0"/>
              </a:spcBef>
              <a:buNone/>
            </a:pPr>
            <a:r>
              <a:rPr sz="1400" b="0" i="0">
                <a:solidFill>
                  <a:srgbClr val="262626"/>
                </a:solidFill>
                <a:latin typeface="Times New Roman"/>
                <a:cs typeface="Times New Roman"/>
              </a:rPr>
              <a:t>Node.js / Express / TypeScript (server.ts): cloud hosting</a:t>
            </a:r>
          </a:p>
        </p:txBody>
      </p:sp>
      <p:sp>
        <p:nvSpPr>
          <p:cNvPr id="16" name="Tier 2 item 3"/>
          <p:cNvSpPr/>
          <p:nvPr/>
        </p:nvSpPr>
        <p:spPr>
          <a:xfrm>
            <a:off x="8869680" y="2898648"/>
            <a:ext cx="2651760" cy="987552"/>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marL="0" indent="0">
              <a:spcBef>
                <a:spcPts val="0"/>
              </a:spcBef>
              <a:buNone/>
            </a:pPr>
            <a:r>
              <a:rPr sz="1400" b="0" i="0">
                <a:solidFill>
                  <a:srgbClr val="262626"/>
                </a:solidFill>
                <a:latin typeface="Times New Roman"/>
                <a:cs typeface="Times New Roman"/>
              </a:rPr>
              <a:t>Role-based access: Citizen, Officer, Admin</a:t>
            </a:r>
          </a:p>
        </p:txBody>
      </p:sp>
      <p:sp>
        <p:nvSpPr>
          <p:cNvPr id="17" name="Tier label 3"/>
          <p:cNvSpPr/>
          <p:nvPr/>
        </p:nvSpPr>
        <p:spPr>
          <a:xfrm>
            <a:off x="841248" y="4014216"/>
            <a:ext cx="2286000" cy="987552"/>
          </a:xfrm>
          <a:prstGeom prst="roundRect">
            <a:avLst>
              <a:gd name="adj" fmla="val 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marL="0" indent="0">
              <a:spcBef>
                <a:spcPts val="0"/>
              </a:spcBef>
              <a:buNone/>
            </a:pPr>
            <a:r>
              <a:rPr sz="1600" b="1" i="0">
                <a:solidFill>
                  <a:srgbClr val="FFFFFF"/>
                </a:solidFill>
                <a:latin typeface="Times New Roman"/>
                <a:cs typeface="Times New Roman"/>
              </a:rPr>
              <a:t>AI / ML &amp; location layer</a:t>
            </a:r>
          </a:p>
        </p:txBody>
      </p:sp>
      <p:sp>
        <p:nvSpPr>
          <p:cNvPr id="18" name="Tier 3 item 1"/>
          <p:cNvSpPr/>
          <p:nvPr/>
        </p:nvSpPr>
        <p:spPr>
          <a:xfrm>
            <a:off x="3291840" y="4014216"/>
            <a:ext cx="2651760" cy="987552"/>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marL="0" indent="0">
              <a:spcBef>
                <a:spcPts val="0"/>
              </a:spcBef>
              <a:buNone/>
            </a:pPr>
            <a:r>
              <a:rPr sz="1400" b="0" i="0">
                <a:solidFill>
                  <a:srgbClr val="262626"/>
                </a:solidFill>
                <a:latin typeface="Times New Roman"/>
                <a:cs typeface="Times New Roman"/>
              </a:rPr>
              <a:t>Gemini 1.5 Flash vision + OpenCV</a:t>
            </a:r>
          </a:p>
        </p:txBody>
      </p:sp>
      <p:sp>
        <p:nvSpPr>
          <p:cNvPr id="19" name="Tier 3 item 2"/>
          <p:cNvSpPr/>
          <p:nvPr/>
        </p:nvSpPr>
        <p:spPr>
          <a:xfrm>
            <a:off x="6080760" y="4014216"/>
            <a:ext cx="2651760" cy="987552"/>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marL="0" indent="0">
              <a:spcBef>
                <a:spcPts val="0"/>
              </a:spcBef>
              <a:buNone/>
            </a:pPr>
            <a:r>
              <a:rPr sz="1400" b="0" i="0">
                <a:solidFill>
                  <a:srgbClr val="262626"/>
                </a:solidFill>
                <a:latin typeface="Times New Roman"/>
                <a:cs typeface="Times New Roman"/>
              </a:rPr>
              <a:t>TF-IDF, n-grams, cosine similarity (XAI)</a:t>
            </a:r>
          </a:p>
        </p:txBody>
      </p:sp>
      <p:sp>
        <p:nvSpPr>
          <p:cNvPr id="20" name="Tier 3 item 3"/>
          <p:cNvSpPr/>
          <p:nvPr/>
        </p:nvSpPr>
        <p:spPr>
          <a:xfrm>
            <a:off x="8869680" y="4014216"/>
            <a:ext cx="2651760" cy="987552"/>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marL="0" indent="0">
              <a:spcBef>
                <a:spcPts val="0"/>
              </a:spcBef>
              <a:buNone/>
            </a:pPr>
            <a:r>
              <a:rPr sz="1400" b="0" i="0">
                <a:solidFill>
                  <a:srgbClr val="262626"/>
                </a:solidFill>
                <a:latin typeface="Times New Roman"/>
                <a:cs typeface="Times New Roman"/>
              </a:rPr>
              <a:t>Geolocation, Nominatim, Haversine distance</a:t>
            </a:r>
          </a:p>
        </p:txBody>
      </p:sp>
      <p:sp>
        <p:nvSpPr>
          <p:cNvPr id="21" name="Tier label 4"/>
          <p:cNvSpPr/>
          <p:nvPr/>
        </p:nvSpPr>
        <p:spPr>
          <a:xfrm>
            <a:off x="841248" y="5129784"/>
            <a:ext cx="2286000" cy="987552"/>
          </a:xfrm>
          <a:prstGeom prst="roundRect">
            <a:avLst>
              <a:gd name="adj" fmla="val 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marL="0" indent="0">
              <a:spcBef>
                <a:spcPts val="0"/>
              </a:spcBef>
              <a:buNone/>
            </a:pPr>
            <a:r>
              <a:rPr sz="1600" b="1" i="0">
                <a:solidFill>
                  <a:srgbClr val="FFFFFF"/>
                </a:solidFill>
                <a:latin typeface="Times New Roman"/>
                <a:cs typeface="Times New Roman"/>
              </a:rPr>
              <a:t>Data layer</a:t>
            </a:r>
          </a:p>
        </p:txBody>
      </p:sp>
      <p:sp>
        <p:nvSpPr>
          <p:cNvPr id="22" name="Tier 4 item 1"/>
          <p:cNvSpPr/>
          <p:nvPr/>
        </p:nvSpPr>
        <p:spPr>
          <a:xfrm>
            <a:off x="3291840" y="5129784"/>
            <a:ext cx="4046220" cy="987552"/>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marL="0" indent="0">
              <a:spcBef>
                <a:spcPts val="0"/>
              </a:spcBef>
              <a:buNone/>
            </a:pPr>
            <a:r>
              <a:rPr sz="1400" b="0" i="0">
                <a:solidFill>
                  <a:srgbClr val="262626"/>
                </a:solidFill>
                <a:latin typeface="Times New Roman"/>
                <a:cs typeface="Times New Roman"/>
              </a:rPr>
              <a:t>SQLite: local prototyping and offline storage</a:t>
            </a:r>
          </a:p>
        </p:txBody>
      </p:sp>
      <p:sp>
        <p:nvSpPr>
          <p:cNvPr id="23" name="Tier 4 item 2"/>
          <p:cNvSpPr/>
          <p:nvPr/>
        </p:nvSpPr>
        <p:spPr>
          <a:xfrm>
            <a:off x="7475220" y="5129784"/>
            <a:ext cx="4046220" cy="987552"/>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marL="0" indent="0">
              <a:spcBef>
                <a:spcPts val="0"/>
              </a:spcBef>
              <a:buNone/>
            </a:pPr>
            <a:r>
              <a:rPr sz="1400" b="0" i="0">
                <a:solidFill>
                  <a:srgbClr val="262626"/>
                </a:solidFill>
                <a:latin typeface="Times New Roman"/>
                <a:cs typeface="Times New Roman"/>
              </a:rPr>
              <a:t>Supabase PostgreSQL: SSL pooling for cloud production</a:t>
            </a:r>
          </a:p>
        </p:txBody>
      </p:sp>
    </p:spTree>
    <p:extLst>
      <p:ext uri="{BB962C8B-B14F-4D97-AF65-F5344CB8AC3E}">
        <p14:creationId xmlns:p14="http://schemas.microsoft.com/office/powerpoint/2010/main" val="1039547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637D2-C055-A0AE-76BE-F053AD2C5178}"/>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Implementation / Modules</a:t>
            </a:r>
          </a:p>
        </p:txBody>
      </p:sp>
      <p:sp>
        <p:nvSpPr>
          <p:cNvPr id="3" name="Content Placeholder 2">
            <a:extLst>
              <a:ext uri="{FF2B5EF4-FFF2-40B4-BE49-F238E27FC236}">
                <a16:creationId xmlns:a16="http://schemas.microsoft.com/office/drawing/2014/main" id="{3093C6ED-3357-EFD8-4B15-44CFEF90AA4E}"/>
              </a:ext>
            </a:extLst>
          </p:cNvPr>
          <p:cNvSpPr>
            <a:spLocks noGrp="1"/>
          </p:cNvSpPr>
          <p:nvPr>
            <p:ph idx="1"/>
          </p:nvPr>
        </p:nvSpPr>
        <p:spPr>
          <a:xfrm>
            <a:off x="841248" y="1371600"/>
            <a:ext cx="9601200" cy="411480"/>
          </a:xfrm>
        </p:spPr>
        <p:txBody>
          <a:bodyPr wrap="square">
            <a:noAutofit/>
          </a:bodyPr>
          <a:lstStyle/>
          <a:p>
            <a:pPr marL="0" indent="0">
              <a:spcBef>
                <a:spcPts val="0"/>
              </a:spcBef>
              <a:buNone/>
            </a:pPr>
            <a:r>
              <a:rPr sz="1700" b="1" i="0">
                <a:solidFill>
                  <a:srgbClr val="262626"/>
                </a:solidFill>
                <a:latin typeface="Times New Roman"/>
                <a:cs typeface="Times New Roman"/>
              </a:rPr>
              <a:t>Live deployment: </a:t>
            </a:r>
            <a:r>
              <a:rPr sz="1700" b="0" i="0">
                <a:solidFill>
                  <a:srgbClr val="262626"/>
                </a:solidFill>
                <a:latin typeface="Times New Roman"/>
                <a:cs typeface="Times New Roman"/>
              </a:rPr>
              <a:t>https://ccpai-1.ai.studio</a:t>
            </a:r>
          </a:p>
        </p:txBody>
      </p:sp>
      <p:sp>
        <p:nvSpPr>
          <p:cNvPr id="4" name="Date Placeholder 3">
            <a:extLst>
              <a:ext uri="{FF2B5EF4-FFF2-40B4-BE49-F238E27FC236}">
                <a16:creationId xmlns:a16="http://schemas.microsoft.com/office/drawing/2014/main" id="{CDB52C39-8579-8CCB-38A6-30FF6BC37CD5}"/>
              </a:ext>
            </a:extLst>
          </p:cNvPr>
          <p:cNvSpPr>
            <a:spLocks noGrp="1"/>
          </p:cNvSpPr>
          <p:nvPr>
            <p:ph type="dt" sz="half" idx="10"/>
          </p:nvPr>
        </p:nvSpPr>
        <p:spPr/>
        <p:txBody>
          <a:bodyPr/>
          <a:lstStyle/>
          <a:p>
            <a:fld id="{08C8EC51-D8FE-429D-B538-6D42DB567EFC}" type="datetime1">
              <a:rPr lang="en-IN" smtClean="0"/>
              <a:t>02-10-2026</a:t>
            </a:fld>
            <a:endParaRPr lang="en-IN"/>
          </a:p>
        </p:txBody>
      </p:sp>
      <p:sp>
        <p:nvSpPr>
          <p:cNvPr id="6" name="Slide Number Placeholder 5">
            <a:extLst>
              <a:ext uri="{FF2B5EF4-FFF2-40B4-BE49-F238E27FC236}">
                <a16:creationId xmlns:a16="http://schemas.microsoft.com/office/drawing/2014/main" id="{BFB68C94-0F26-D10A-70D2-DF88E6B3A4C2}"/>
              </a:ext>
            </a:extLst>
          </p:cNvPr>
          <p:cNvSpPr>
            <a:spLocks noGrp="1"/>
          </p:cNvSpPr>
          <p:nvPr>
            <p:ph type="sldNum" sz="quarter" idx="12"/>
          </p:nvPr>
        </p:nvSpPr>
        <p:spPr/>
        <p:txBody>
          <a:bodyPr/>
          <a:lstStyle/>
          <a:p>
            <a:fld id="{47526DCF-DF60-4378-BFCC-D3A207344837}" type="slidenum">
              <a:rPr lang="en-IN" smtClean="0"/>
              <a:t>11</a:t>
            </a:fld>
            <a:endParaRPr lang="en-IN"/>
          </a:p>
        </p:txBody>
      </p:sp>
      <p:pic>
        <p:nvPicPr>
          <p:cNvPr id="8" name="Picture 7">
            <a:extLst>
              <a:ext uri="{FF2B5EF4-FFF2-40B4-BE49-F238E27FC236}">
                <a16:creationId xmlns:a16="http://schemas.microsoft.com/office/drawing/2014/main" id="{AB8C40E3-0616-FC5B-C382-57C8E7C12A3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80203" y="297924"/>
            <a:ext cx="1049749" cy="677182"/>
          </a:xfrm>
          <a:prstGeom prst="rect">
            <a:avLst/>
          </a:prstGeom>
          <a:noFill/>
          <a:ln>
            <a:noFill/>
          </a:ln>
        </p:spPr>
      </p:pic>
      <p:graphicFrame>
        <p:nvGraphicFramePr>
          <p:cNvPr id="9" name="Modules table"/>
          <p:cNvGraphicFramePr>
            <a:graphicFrameLocks noGrp="1"/>
          </p:cNvGraphicFramePr>
          <p:nvPr/>
        </p:nvGraphicFramePr>
        <p:xfrm>
          <a:off x="841248" y="1874519"/>
          <a:ext cx="10515600" cy="4069080"/>
        </p:xfrm>
        <a:graphic>
          <a:graphicData uri="http://schemas.openxmlformats.org/drawingml/2006/table">
            <a:tbl>
              <a:tblPr firstRow="0" bandRow="0">
                <a:tableStyleId>{5C22544A-7EE6-4342-B048-85BDC9FD1C3A}</a:tableStyleId>
              </a:tblPr>
              <a:tblGrid>
                <a:gridCol w="2194560"/>
                <a:gridCol w="2926080"/>
                <a:gridCol w="5394960"/>
              </a:tblGrid>
              <a:tr h="411480">
                <a:tc>
                  <a:txBody>
                    <a:bodyPr wrap="square"/>
                    <a:lstStyle/>
                    <a:p>
                      <a:r>
                        <a:rPr sz="1400" b="1" i="0">
                          <a:solidFill>
                            <a:srgbClr val="FFFFFF"/>
                          </a:solidFill>
                          <a:latin typeface="Times New Roman"/>
                          <a:cs typeface="Times New Roman"/>
                        </a:rPr>
                        <a:t>Module</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C00000"/>
                    </a:solidFill>
                  </a:tcPr>
                </a:tc>
                <a:tc>
                  <a:txBody>
                    <a:bodyPr wrap="square"/>
                    <a:lstStyle/>
                    <a:p>
                      <a:r>
                        <a:rPr sz="1400" b="1" i="0">
                          <a:solidFill>
                            <a:srgbClr val="FFFFFF"/>
                          </a:solidFill>
                          <a:latin typeface="Times New Roman"/>
                          <a:cs typeface="Times New Roman"/>
                        </a:rPr>
                        <a:t>Route / component</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C00000"/>
                    </a:solidFill>
                  </a:tcPr>
                </a:tc>
                <a:tc>
                  <a:txBody>
                    <a:bodyPr wrap="square"/>
                    <a:lstStyle/>
                    <a:p>
                      <a:r>
                        <a:rPr sz="1400" b="1" i="0">
                          <a:solidFill>
                            <a:srgbClr val="FFFFFF"/>
                          </a:solidFill>
                          <a:latin typeface="Times New Roman"/>
                          <a:cs typeface="Times New Roman"/>
                        </a:rPr>
                        <a:t>What it does</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C00000"/>
                    </a:solidFill>
                  </a:tcPr>
                </a:tc>
              </a:tr>
              <a:tr h="457200">
                <a:tc>
                  <a:txBody>
                    <a:bodyPr wrap="square"/>
                    <a:lstStyle/>
                    <a:p>
                      <a:r>
                        <a:rPr sz="1400" b="1" i="0">
                          <a:solidFill>
                            <a:srgbClr val="262626"/>
                          </a:solidFill>
                          <a:latin typeface="Times New Roman"/>
                          <a:cs typeface="Times New Roman"/>
                        </a:rPr>
                        <a:t>Citizen portal</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r>
                        <a:rPr sz="1400" b="0" i="0">
                          <a:solidFill>
                            <a:srgbClr val="262626"/>
                          </a:solidFill>
                          <a:latin typeface="Times New Roman"/>
                          <a:cs typeface="Times New Roman"/>
                        </a:rPr>
                        <a:t>Complaint form, tracking</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r>
                        <a:rPr sz="1400" b="0" i="0">
                          <a:solidFill>
                            <a:srgbClr val="262626"/>
                          </a:solidFill>
                          <a:latin typeface="Times New Roman"/>
                          <a:cs typeface="Times New Roman"/>
                        </a:rPr>
                        <a:t>Live XAI, voice, map pin, SOS, duplicate alert, ratings</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r>
                        <a:rPr sz="1400" b="1" i="0">
                          <a:solidFill>
                            <a:srgbClr val="262626"/>
                          </a:solidFill>
                          <a:latin typeface="Times New Roman"/>
                          <a:cs typeface="Times New Roman"/>
                        </a:rPr>
                        <a:t>Officer dashboard</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8ECEC"/>
                    </a:solidFill>
                  </a:tcPr>
                </a:tc>
                <a:tc>
                  <a:txBody>
                    <a:bodyPr wrap="square"/>
                    <a:lstStyle/>
                    <a:p>
                      <a:r>
                        <a:rPr sz="1400" b="0" i="0">
                          <a:solidFill>
                            <a:srgbClr val="262626"/>
                          </a:solidFill>
                          <a:latin typeface="Times New Roman"/>
                          <a:cs typeface="Times New Roman"/>
                        </a:rPr>
                        <a:t>/department_dashboard</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8ECEC"/>
                    </a:solidFill>
                  </a:tcPr>
                </a:tc>
                <a:tc>
                  <a:txBody>
                    <a:bodyPr wrap="square"/>
                    <a:lstStyle/>
                    <a:p>
                      <a:r>
                        <a:rPr sz="1400" b="0" i="0">
                          <a:solidFill>
                            <a:srgbClr val="262626"/>
                          </a:solidFill>
                          <a:latin typeface="Times New Roman"/>
                          <a:cs typeface="Times New Roman"/>
                        </a:rPr>
                        <a:t>Department-only tickets; “After” photo mandatory</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8ECEC"/>
                    </a:solidFill>
                  </a:tcPr>
                </a:tc>
              </a:tr>
              <a:tr h="457200">
                <a:tc>
                  <a:txBody>
                    <a:bodyPr wrap="square"/>
                    <a:lstStyle/>
                    <a:p>
                      <a:r>
                        <a:rPr sz="1400" b="1" i="0">
                          <a:solidFill>
                            <a:srgbClr val="262626"/>
                          </a:solidFill>
                          <a:latin typeface="Times New Roman"/>
                          <a:cs typeface="Times New Roman"/>
                        </a:rPr>
                        <a:t>Admin dashboard</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r>
                        <a:rPr sz="1400" b="0" i="0">
                          <a:solidFill>
                            <a:srgbClr val="262626"/>
                          </a:solidFill>
                          <a:latin typeface="Times New Roman"/>
                          <a:cs typeface="Times New Roman"/>
                        </a:rPr>
                        <a:t>/admin</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r>
                        <a:rPr sz="1400" b="0" i="0">
                          <a:solidFill>
                            <a:srgbClr val="262626"/>
                          </a:solidFill>
                          <a:latin typeface="Times New Roman"/>
                          <a:cs typeface="Times New Roman"/>
                        </a:rPr>
                        <a:t>Complaint totals and department performance</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r>
                        <a:rPr sz="1400" b="1" i="0">
                          <a:solidFill>
                            <a:srgbClr val="262626"/>
                          </a:solidFill>
                          <a:latin typeface="Times New Roman"/>
                          <a:cs typeface="Times New Roman"/>
                        </a:rPr>
                        <a:t>Quarantine desk</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8ECEC"/>
                    </a:solidFill>
                  </a:tcPr>
                </a:tc>
                <a:tc>
                  <a:txBody>
                    <a:bodyPr wrap="square"/>
                    <a:lstStyle/>
                    <a:p>
                      <a:r>
                        <a:rPr sz="1400" b="0" i="0">
                          <a:solidFill>
                            <a:srgbClr val="262626"/>
                          </a:solidFill>
                          <a:latin typeface="Times New Roman"/>
                          <a:cs typeface="Times New Roman"/>
                        </a:rPr>
                        <a:t>/admin/quarantine</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8ECEC"/>
                    </a:solidFill>
                  </a:tcPr>
                </a:tc>
                <a:tc>
                  <a:txBody>
                    <a:bodyPr wrap="square"/>
                    <a:lstStyle/>
                    <a:p>
                      <a:r>
                        <a:rPr sz="1400" b="0" i="0">
                          <a:solidFill>
                            <a:srgbClr val="262626"/>
                          </a:solidFill>
                          <a:latin typeface="Times New Roman"/>
                          <a:cs typeface="Times New Roman"/>
                        </a:rPr>
                        <a:t>Triage flagged photos; Reject Resolution</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8ECEC"/>
                    </a:solidFill>
                  </a:tcPr>
                </a:tc>
              </a:tr>
              <a:tr h="457200">
                <a:tc>
                  <a:txBody>
                    <a:bodyPr wrap="square"/>
                    <a:lstStyle/>
                    <a:p>
                      <a:r>
                        <a:rPr sz="1400" b="1" i="0">
                          <a:solidFill>
                            <a:srgbClr val="262626"/>
                          </a:solidFill>
                          <a:latin typeface="Times New Roman"/>
                          <a:cs typeface="Times New Roman"/>
                        </a:rPr>
                        <a:t>Heatmap</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r>
                        <a:rPr sz="1400" b="0" i="0">
                          <a:solidFill>
                            <a:srgbClr val="262626"/>
                          </a:solidFill>
                          <a:latin typeface="Times New Roman"/>
                          <a:cs typeface="Times New Roman"/>
                        </a:rPr>
                        <a:t>/admin/heatmap</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r>
                        <a:rPr sz="1400" b="0" i="0">
                          <a:solidFill>
                            <a:srgbClr val="262626"/>
                          </a:solidFill>
                          <a:latin typeface="Times New Roman"/>
                          <a:cs typeface="Times New Roman"/>
                        </a:rPr>
                        <a:t>Priority-weighted Leaflet heatmap</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r>
                        <a:rPr sz="1400" b="1" i="0">
                          <a:solidFill>
                            <a:srgbClr val="262626"/>
                          </a:solidFill>
                          <a:latin typeface="Times New Roman"/>
                          <a:cs typeface="Times New Roman"/>
                        </a:rPr>
                        <a:t>Geofencing</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8ECEC"/>
                    </a:solidFill>
                  </a:tcPr>
                </a:tc>
                <a:tc>
                  <a:txBody>
                    <a:bodyPr wrap="square"/>
                    <a:lstStyle/>
                    <a:p>
                      <a:r>
                        <a:rPr sz="1400" b="0" i="0">
                          <a:solidFill>
                            <a:srgbClr val="262626"/>
                          </a:solidFill>
                          <a:latin typeface="Times New Roman"/>
                          <a:cs typeface="Times New Roman"/>
                        </a:rPr>
                        <a:t>/admin_settings</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8ECEC"/>
                    </a:solidFill>
                  </a:tcPr>
                </a:tc>
                <a:tc>
                  <a:txBody>
                    <a:bodyPr wrap="square"/>
                    <a:lstStyle/>
                    <a:p>
                      <a:r>
                        <a:rPr sz="1400" b="0" i="0">
                          <a:solidFill>
                            <a:srgbClr val="262626"/>
                          </a:solidFill>
                          <a:latin typeface="Times New Roman"/>
                          <a:cs typeface="Times New Roman"/>
                        </a:rPr>
                        <a:t>Community centre and monitoring radius</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8ECEC"/>
                    </a:solidFill>
                  </a:tcPr>
                </a:tc>
              </a:tr>
              <a:tr h="457200">
                <a:tc>
                  <a:txBody>
                    <a:bodyPr wrap="square"/>
                    <a:lstStyle/>
                    <a:p>
                      <a:r>
                        <a:rPr sz="1400" b="1" i="0">
                          <a:solidFill>
                            <a:srgbClr val="262626"/>
                          </a:solidFill>
                          <a:latin typeface="Times New Roman"/>
                          <a:cs typeface="Times New Roman"/>
                        </a:rPr>
                        <a:t>Open Data API</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r>
                        <a:rPr sz="1400" b="0" i="0">
                          <a:solidFill>
                            <a:srgbClr val="262626"/>
                          </a:solidFill>
                          <a:latin typeface="Times New Roman"/>
                          <a:cs typeface="Times New Roman"/>
                        </a:rPr>
                        <a:t>/api/v1/complaints</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r>
                        <a:rPr sz="1400" b="0" i="0">
                          <a:solidFill>
                            <a:srgbClr val="262626"/>
                          </a:solidFill>
                          <a:latin typeface="Times New Roman"/>
                          <a:cs typeface="Times New Roman"/>
                        </a:rPr>
                        <a:t>Public JSON endpoint for transparency</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r>
                        <a:rPr sz="1400" b="1" i="0">
                          <a:solidFill>
                            <a:srgbClr val="262626"/>
                          </a:solidFill>
                          <a:latin typeface="Times New Roman"/>
                          <a:cs typeface="Times New Roman"/>
                        </a:rPr>
                        <a:t>CSV export</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8ECEC"/>
                    </a:solidFill>
                  </a:tcPr>
                </a:tc>
                <a:tc>
                  <a:txBody>
                    <a:bodyPr wrap="square"/>
                    <a:lstStyle/>
                    <a:p>
                      <a:r>
                        <a:rPr sz="1400" b="0" i="0">
                          <a:solidFill>
                            <a:srgbClr val="262626"/>
                          </a:solidFill>
                          <a:latin typeface="Times New Roman"/>
                          <a:cs typeface="Times New Roman"/>
                        </a:rPr>
                        <a:t>/admin/export</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8ECEC"/>
                    </a:solidFill>
                  </a:tcPr>
                </a:tc>
                <a:tc>
                  <a:txBody>
                    <a:bodyPr wrap="square"/>
                    <a:lstStyle/>
                    <a:p>
                      <a:r>
                        <a:rPr sz="1400" b="0" i="0">
                          <a:solidFill>
                            <a:srgbClr val="262626"/>
                          </a:solidFill>
                          <a:latin typeface="Times New Roman"/>
                          <a:cs typeface="Times New Roman"/>
                        </a:rPr>
                        <a:t>All records for municipal reporting</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8ECEC"/>
                    </a:solidFill>
                  </a:tcPr>
                </a:tc>
              </a:tr>
            </a:tbl>
          </a:graphicData>
        </a:graphic>
      </p:graphicFrame>
    </p:spTree>
    <p:extLst>
      <p:ext uri="{BB962C8B-B14F-4D97-AF65-F5344CB8AC3E}">
        <p14:creationId xmlns:p14="http://schemas.microsoft.com/office/powerpoint/2010/main" val="3098161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5AB7D-6F03-4630-46A2-BB97B39DB44C}"/>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Results (Full) / Screenshots </a:t>
            </a:r>
          </a:p>
        </p:txBody>
      </p:sp>
      <p:sp>
        <p:nvSpPr>
          <p:cNvPr id="4" name="Date Placeholder 3">
            <a:extLst>
              <a:ext uri="{FF2B5EF4-FFF2-40B4-BE49-F238E27FC236}">
                <a16:creationId xmlns:a16="http://schemas.microsoft.com/office/drawing/2014/main" id="{53A20085-5E2E-0801-C48C-3123AE6D0BA8}"/>
              </a:ext>
            </a:extLst>
          </p:cNvPr>
          <p:cNvSpPr>
            <a:spLocks noGrp="1"/>
          </p:cNvSpPr>
          <p:nvPr>
            <p:ph type="dt" sz="half" idx="10"/>
          </p:nvPr>
        </p:nvSpPr>
        <p:spPr/>
        <p:txBody>
          <a:bodyPr/>
          <a:lstStyle/>
          <a:p>
            <a:fld id="{0FE5F299-9D72-47F9-8A7A-EFB8E8F8EF9B}" type="datetime1">
              <a:rPr lang="en-IN" smtClean="0"/>
              <a:t>02-10-2026</a:t>
            </a:fld>
            <a:endParaRPr lang="en-IN"/>
          </a:p>
        </p:txBody>
      </p:sp>
      <p:sp>
        <p:nvSpPr>
          <p:cNvPr id="6" name="Slide Number Placeholder 5">
            <a:extLst>
              <a:ext uri="{FF2B5EF4-FFF2-40B4-BE49-F238E27FC236}">
                <a16:creationId xmlns:a16="http://schemas.microsoft.com/office/drawing/2014/main" id="{00DA51D1-6CB3-B4F9-1515-CA9758CD2DDA}"/>
              </a:ext>
            </a:extLst>
          </p:cNvPr>
          <p:cNvSpPr>
            <a:spLocks noGrp="1"/>
          </p:cNvSpPr>
          <p:nvPr>
            <p:ph type="sldNum" sz="quarter" idx="12"/>
          </p:nvPr>
        </p:nvSpPr>
        <p:spPr/>
        <p:txBody>
          <a:bodyPr/>
          <a:lstStyle/>
          <a:p>
            <a:fld id="{47526DCF-DF60-4378-BFCC-D3A207344837}" type="slidenum">
              <a:rPr lang="en-IN" smtClean="0"/>
              <a:t>12</a:t>
            </a:fld>
            <a:endParaRPr lang="en-IN"/>
          </a:p>
        </p:txBody>
      </p:sp>
      <p:pic>
        <p:nvPicPr>
          <p:cNvPr id="8" name="Picture 7">
            <a:extLst>
              <a:ext uri="{FF2B5EF4-FFF2-40B4-BE49-F238E27FC236}">
                <a16:creationId xmlns:a16="http://schemas.microsoft.com/office/drawing/2014/main" id="{98623FDF-8E03-E0AE-1C24-7A321DBEAEE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80203" y="297924"/>
            <a:ext cx="1049749" cy="677182"/>
          </a:xfrm>
          <a:prstGeom prst="rect">
            <a:avLst/>
          </a:prstGeom>
          <a:noFill/>
          <a:ln>
            <a:noFill/>
          </a:ln>
        </p:spPr>
      </p:pic>
      <p:sp>
        <p:nvSpPr>
          <p:cNvPr id="9" name="Screenshot frame 1"/>
          <p:cNvSpPr/>
          <p:nvPr/>
        </p:nvSpPr>
        <p:spPr>
          <a:xfrm>
            <a:off x="841248" y="1508760"/>
            <a:ext cx="3337560" cy="1737360"/>
          </a:xfrm>
          <a:prstGeom prst="rect">
            <a:avLst/>
          </a:prstGeom>
          <a:solidFill>
            <a:srgbClr val="FAFAFA"/>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marL="0" indent="0">
              <a:spcBef>
                <a:spcPts val="0"/>
              </a:spcBef>
              <a:buNone/>
            </a:pPr>
            <a:r>
              <a:rPr sz="1300" b="0" i="0">
                <a:solidFill>
                  <a:srgbClr val="A6A6A6"/>
                </a:solidFill>
                <a:latin typeface="Times New Roman"/>
                <a:cs typeface="Times New Roman"/>
              </a:rPr>
              <a:t>1. Citizen Complaint Intake Form</a:t>
            </a:r>
          </a:p>
        </p:txBody>
      </p:sp>
      <p:sp>
        <p:nvSpPr>
          <p:cNvPr id="10" name="Caption 1"/>
          <p:cNvSpPr/>
          <p:nvPr/>
        </p:nvSpPr>
        <p:spPr>
          <a:xfrm>
            <a:off x="841248" y="3273551"/>
            <a:ext cx="3337560" cy="310896"/>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54864" bIns="54864"/>
          <a:lstStyle/>
          <a:p>
            <a:pPr algn="ctr" marL="0" indent="0">
              <a:spcBef>
                <a:spcPts val="0"/>
              </a:spcBef>
              <a:buNone/>
            </a:pPr>
            <a:r>
              <a:rPr sz="1200" b="1" i="0">
                <a:solidFill>
                  <a:srgbClr val="262626"/>
                </a:solidFill>
                <a:latin typeface="Times New Roman"/>
                <a:cs typeface="Times New Roman"/>
              </a:rPr>
              <a:t>Citizen complaint form with live XAI diagnosis</a:t>
            </a:r>
          </a:p>
        </p:txBody>
      </p:sp>
      <p:sp>
        <p:nvSpPr>
          <p:cNvPr id="11" name="Screenshot frame 2"/>
          <p:cNvSpPr/>
          <p:nvPr/>
        </p:nvSpPr>
        <p:spPr>
          <a:xfrm>
            <a:off x="4425696" y="1508760"/>
            <a:ext cx="3337560" cy="1737360"/>
          </a:xfrm>
          <a:prstGeom prst="rect">
            <a:avLst/>
          </a:prstGeom>
          <a:solidFill>
            <a:srgbClr val="FAFAFA"/>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marL="0" indent="0">
              <a:spcBef>
                <a:spcPts val="0"/>
              </a:spcBef>
              <a:buNone/>
            </a:pPr>
            <a:r>
              <a:rPr sz="1300" b="0" i="0">
                <a:solidFill>
                  <a:srgbClr val="A6A6A6"/>
                </a:solidFill>
                <a:latin typeface="Times New Roman"/>
                <a:cs typeface="Times New Roman"/>
              </a:rPr>
              <a:t>2. Leaflet Map and GPS Geocoding</a:t>
            </a:r>
          </a:p>
        </p:txBody>
      </p:sp>
      <p:sp>
        <p:nvSpPr>
          <p:cNvPr id="12" name="Caption 2"/>
          <p:cNvSpPr/>
          <p:nvPr/>
        </p:nvSpPr>
        <p:spPr>
          <a:xfrm>
            <a:off x="4425696" y="3273551"/>
            <a:ext cx="3337560" cy="310896"/>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54864" bIns="54864"/>
          <a:lstStyle/>
          <a:p>
            <a:pPr algn="ctr" marL="0" indent="0">
              <a:spcBef>
                <a:spcPts val="0"/>
              </a:spcBef>
              <a:buNone/>
            </a:pPr>
            <a:r>
              <a:rPr sz="1200" b="1" i="0">
                <a:solidFill>
                  <a:srgbClr val="262626"/>
                </a:solidFill>
                <a:latin typeface="Times New Roman"/>
                <a:cs typeface="Times New Roman"/>
              </a:rPr>
              <a:t>Map picker with street address</a:t>
            </a:r>
          </a:p>
        </p:txBody>
      </p:sp>
      <p:sp>
        <p:nvSpPr>
          <p:cNvPr id="13" name="Screenshot frame 3"/>
          <p:cNvSpPr/>
          <p:nvPr/>
        </p:nvSpPr>
        <p:spPr>
          <a:xfrm>
            <a:off x="8010144" y="1508760"/>
            <a:ext cx="3337560" cy="1737360"/>
          </a:xfrm>
          <a:prstGeom prst="rect">
            <a:avLst/>
          </a:prstGeom>
          <a:solidFill>
            <a:srgbClr val="FAFAFA"/>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marL="0" indent="0">
              <a:spcBef>
                <a:spcPts val="0"/>
              </a:spcBef>
              <a:buNone/>
            </a:pPr>
            <a:r>
              <a:rPr sz="1300" b="0" i="0">
                <a:solidFill>
                  <a:srgbClr val="A6A6A6"/>
                </a:solidFill>
                <a:latin typeface="Times New Roman"/>
                <a:cs typeface="Times New Roman"/>
              </a:rPr>
              <a:t>3. Duplicate Warning and Civic SOS</a:t>
            </a:r>
          </a:p>
        </p:txBody>
      </p:sp>
      <p:sp>
        <p:nvSpPr>
          <p:cNvPr id="14" name="Caption 3"/>
          <p:cNvSpPr/>
          <p:nvPr/>
        </p:nvSpPr>
        <p:spPr>
          <a:xfrm>
            <a:off x="8010144" y="3273551"/>
            <a:ext cx="3337560" cy="310896"/>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54864" bIns="54864"/>
          <a:lstStyle/>
          <a:p>
            <a:pPr algn="ctr" marL="0" indent="0">
              <a:spcBef>
                <a:spcPts val="0"/>
              </a:spcBef>
              <a:buNone/>
            </a:pPr>
            <a:r>
              <a:rPr sz="1200" b="1" i="0">
                <a:solidFill>
                  <a:srgbClr val="262626"/>
                </a:solidFill>
                <a:latin typeface="Times New Roman"/>
                <a:cs typeface="Times New Roman"/>
              </a:rPr>
              <a:t>Duplicate, conflict and Civic SOS alerts</a:t>
            </a:r>
          </a:p>
        </p:txBody>
      </p:sp>
      <p:sp>
        <p:nvSpPr>
          <p:cNvPr id="15" name="Screenshot frame 4"/>
          <p:cNvSpPr/>
          <p:nvPr/>
        </p:nvSpPr>
        <p:spPr>
          <a:xfrm>
            <a:off x="841248" y="3703320"/>
            <a:ext cx="3337560" cy="1737360"/>
          </a:xfrm>
          <a:prstGeom prst="rect">
            <a:avLst/>
          </a:prstGeom>
          <a:solidFill>
            <a:srgbClr val="FAFAFA"/>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marL="0" indent="0">
              <a:spcBef>
                <a:spcPts val="0"/>
              </a:spcBef>
              <a:buNone/>
            </a:pPr>
            <a:r>
              <a:rPr sz="1300" b="0" i="0">
                <a:solidFill>
                  <a:srgbClr val="A6A6A6"/>
                </a:solidFill>
                <a:latin typeface="Times New Roman"/>
                <a:cs typeface="Times New Roman"/>
              </a:rPr>
              <a:t>4. Officer Work Order and Resolution</a:t>
            </a:r>
          </a:p>
        </p:txBody>
      </p:sp>
      <p:sp>
        <p:nvSpPr>
          <p:cNvPr id="16" name="Caption 4"/>
          <p:cNvSpPr/>
          <p:nvPr/>
        </p:nvSpPr>
        <p:spPr>
          <a:xfrm>
            <a:off x="841248" y="5468112"/>
            <a:ext cx="3337560" cy="310896"/>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54864" bIns="54864"/>
          <a:lstStyle/>
          <a:p>
            <a:pPr algn="ctr" marL="0" indent="0">
              <a:spcBef>
                <a:spcPts val="0"/>
              </a:spcBef>
              <a:buNone/>
            </a:pPr>
            <a:r>
              <a:rPr sz="1200" b="1" i="0">
                <a:solidFill>
                  <a:srgbClr val="262626"/>
                </a:solidFill>
                <a:latin typeface="Times New Roman"/>
                <a:cs typeface="Times New Roman"/>
              </a:rPr>
              <a:t>Officer dashboard and resolution upload</a:t>
            </a:r>
          </a:p>
        </p:txBody>
      </p:sp>
      <p:sp>
        <p:nvSpPr>
          <p:cNvPr id="17" name="Screenshot frame 5"/>
          <p:cNvSpPr/>
          <p:nvPr/>
        </p:nvSpPr>
        <p:spPr>
          <a:xfrm>
            <a:off x="4425696" y="3703320"/>
            <a:ext cx="3337560" cy="1737360"/>
          </a:xfrm>
          <a:prstGeom prst="rect">
            <a:avLst/>
          </a:prstGeom>
          <a:solidFill>
            <a:srgbClr val="FAFAFA"/>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marL="0" indent="0">
              <a:spcBef>
                <a:spcPts val="0"/>
              </a:spcBef>
              <a:buNone/>
            </a:pPr>
            <a:r>
              <a:rPr sz="1300" b="0" i="0">
                <a:solidFill>
                  <a:srgbClr val="A6A6A6"/>
                </a:solidFill>
                <a:latin typeface="Times New Roman"/>
                <a:cs typeface="Times New Roman"/>
              </a:rPr>
              <a:t>5. Admin Quarantine Triage Desk</a:t>
            </a:r>
          </a:p>
        </p:txBody>
      </p:sp>
      <p:sp>
        <p:nvSpPr>
          <p:cNvPr id="18" name="Caption 5"/>
          <p:cNvSpPr/>
          <p:nvPr/>
        </p:nvSpPr>
        <p:spPr>
          <a:xfrm>
            <a:off x="4425696" y="5468112"/>
            <a:ext cx="3337560" cy="310896"/>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54864" bIns="54864"/>
          <a:lstStyle/>
          <a:p>
            <a:pPr algn="ctr" marL="0" indent="0">
              <a:spcBef>
                <a:spcPts val="0"/>
              </a:spcBef>
              <a:buNone/>
            </a:pPr>
            <a:r>
              <a:rPr sz="1200" b="1" i="0">
                <a:solidFill>
                  <a:srgbClr val="262626"/>
                </a:solidFill>
                <a:latin typeface="Times New Roman"/>
                <a:cs typeface="Times New Roman"/>
              </a:rPr>
              <a:t>Admin quarantine desk</a:t>
            </a:r>
          </a:p>
        </p:txBody>
      </p:sp>
      <p:sp>
        <p:nvSpPr>
          <p:cNvPr id="19" name="Screenshot frame 6"/>
          <p:cNvSpPr/>
          <p:nvPr/>
        </p:nvSpPr>
        <p:spPr>
          <a:xfrm>
            <a:off x="8010144" y="3703320"/>
            <a:ext cx="3337560" cy="1737360"/>
          </a:xfrm>
          <a:prstGeom prst="rect">
            <a:avLst/>
          </a:prstGeom>
          <a:solidFill>
            <a:srgbClr val="FAFAFA"/>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marL="0" indent="0">
              <a:spcBef>
                <a:spcPts val="0"/>
              </a:spcBef>
              <a:buNone/>
            </a:pPr>
            <a:r>
              <a:rPr sz="1300" b="0" i="0">
                <a:solidFill>
                  <a:srgbClr val="A6A6A6"/>
                </a:solidFill>
                <a:latin typeface="Times New Roman"/>
                <a:cs typeface="Times New Roman"/>
              </a:rPr>
              <a:t>6. City Priority Density Heatmap</a:t>
            </a:r>
          </a:p>
        </p:txBody>
      </p:sp>
      <p:sp>
        <p:nvSpPr>
          <p:cNvPr id="20" name="Caption 6"/>
          <p:cNvSpPr/>
          <p:nvPr/>
        </p:nvSpPr>
        <p:spPr>
          <a:xfrm>
            <a:off x="8010144" y="5468112"/>
            <a:ext cx="3337560" cy="310896"/>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54864" bIns="54864"/>
          <a:lstStyle/>
          <a:p>
            <a:pPr algn="ctr" marL="0" indent="0">
              <a:spcBef>
                <a:spcPts val="0"/>
              </a:spcBef>
              <a:buNone/>
            </a:pPr>
            <a:r>
              <a:rPr sz="1200" b="1" i="0">
                <a:solidFill>
                  <a:srgbClr val="262626"/>
                </a:solidFill>
                <a:latin typeface="Times New Roman"/>
                <a:cs typeface="Times New Roman"/>
              </a:rPr>
              <a:t>Geospatial priority heatmap</a:t>
            </a:r>
          </a:p>
        </p:txBody>
      </p:sp>
    </p:spTree>
    <p:extLst>
      <p:ext uri="{BB962C8B-B14F-4D97-AF65-F5344CB8AC3E}">
        <p14:creationId xmlns:p14="http://schemas.microsoft.com/office/powerpoint/2010/main" val="800239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2C339-7109-22A2-C449-4EAB8CD8D47A}"/>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Impact Assessment </a:t>
            </a:r>
          </a:p>
        </p:txBody>
      </p:sp>
      <p:sp>
        <p:nvSpPr>
          <p:cNvPr id="4" name="Date Placeholder 3">
            <a:extLst>
              <a:ext uri="{FF2B5EF4-FFF2-40B4-BE49-F238E27FC236}">
                <a16:creationId xmlns:a16="http://schemas.microsoft.com/office/drawing/2014/main" id="{54F49FF7-21AD-45B9-11C8-B23CD9E5171C}"/>
              </a:ext>
            </a:extLst>
          </p:cNvPr>
          <p:cNvSpPr>
            <a:spLocks noGrp="1"/>
          </p:cNvSpPr>
          <p:nvPr>
            <p:ph type="dt" sz="half" idx="10"/>
          </p:nvPr>
        </p:nvSpPr>
        <p:spPr/>
        <p:txBody>
          <a:bodyPr/>
          <a:lstStyle/>
          <a:p>
            <a:fld id="{F4AD1F96-71CD-4CEB-A453-AFC903363AB7}" type="datetime1">
              <a:rPr lang="en-IN" smtClean="0"/>
              <a:t>02-10-2026</a:t>
            </a:fld>
            <a:endParaRPr lang="en-IN"/>
          </a:p>
        </p:txBody>
      </p:sp>
      <p:sp>
        <p:nvSpPr>
          <p:cNvPr id="6" name="Slide Number Placeholder 5">
            <a:extLst>
              <a:ext uri="{FF2B5EF4-FFF2-40B4-BE49-F238E27FC236}">
                <a16:creationId xmlns:a16="http://schemas.microsoft.com/office/drawing/2014/main" id="{72F6FE67-A70E-70E3-3F46-A2488861373E}"/>
              </a:ext>
            </a:extLst>
          </p:cNvPr>
          <p:cNvSpPr>
            <a:spLocks noGrp="1"/>
          </p:cNvSpPr>
          <p:nvPr>
            <p:ph type="sldNum" sz="quarter" idx="12"/>
          </p:nvPr>
        </p:nvSpPr>
        <p:spPr/>
        <p:txBody>
          <a:bodyPr/>
          <a:lstStyle/>
          <a:p>
            <a:fld id="{47526DCF-DF60-4378-BFCC-D3A207344837}" type="slidenum">
              <a:rPr lang="en-IN" smtClean="0"/>
              <a:t>13</a:t>
            </a:fld>
            <a:endParaRPr lang="en-IN"/>
          </a:p>
        </p:txBody>
      </p:sp>
      <p:pic>
        <p:nvPicPr>
          <p:cNvPr id="8" name="Picture 7">
            <a:extLst>
              <a:ext uri="{FF2B5EF4-FFF2-40B4-BE49-F238E27FC236}">
                <a16:creationId xmlns:a16="http://schemas.microsoft.com/office/drawing/2014/main" id="{297ACE34-F113-A962-A26F-C5CFD5FF5D0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80203" y="297924"/>
            <a:ext cx="1049749" cy="677182"/>
          </a:xfrm>
          <a:prstGeom prst="rect">
            <a:avLst/>
          </a:prstGeom>
          <a:noFill/>
          <a:ln>
            <a:noFill/>
          </a:ln>
        </p:spPr>
      </p:pic>
      <p:sp>
        <p:nvSpPr>
          <p:cNvPr id="9" name="Impact 1"/>
          <p:cNvSpPr/>
          <p:nvPr/>
        </p:nvSpPr>
        <p:spPr>
          <a:xfrm>
            <a:off x="841248" y="1600200"/>
            <a:ext cx="3383280" cy="4297680"/>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54864" bIns="54864"/>
          <a:lstStyle/>
          <a:p>
            <a:pPr algn="l" marL="0" indent="0">
              <a:spcBef>
                <a:spcPts val="0"/>
              </a:spcBef>
              <a:buNone/>
            </a:pPr>
            <a:r>
              <a:rPr sz="2200" b="1" i="0">
                <a:solidFill>
                  <a:srgbClr val="C00000"/>
                </a:solidFill>
                <a:latin typeface="Times New Roman"/>
                <a:cs typeface="Times New Roman"/>
              </a:rPr>
              <a:t>Technical Impact</a:t>
            </a:r>
          </a:p>
          <a:p>
            <a:pPr algn="l" marL="228600" indent="-228600">
              <a:spcBef>
                <a:spcPts val="600"/>
              </a:spcBef>
              <a:buFont typeface="Arial"/>
              <a:buChar char="•"/>
            </a:pPr>
            <a:r>
              <a:rPr sz="1800" b="0" i="0">
                <a:solidFill>
                  <a:srgbClr val="262626"/>
                </a:solidFill>
                <a:latin typeface="Times New Roman"/>
                <a:cs typeface="Times New Roman"/>
              </a:rPr>
              <a:t>Explainable classification and priority prediction in real time</a:t>
            </a:r>
          </a:p>
          <a:p>
            <a:pPr algn="l" marL="228600" indent="-228600">
              <a:spcBef>
                <a:spcPts val="600"/>
              </a:spcBef>
              <a:buFont typeface="Arial"/>
              <a:buChar char="•"/>
            </a:pPr>
            <a:r>
              <a:rPr sz="1800" b="0" i="0">
                <a:solidFill>
                  <a:srgbClr val="262626"/>
                </a:solidFill>
                <a:latin typeface="Times New Roman"/>
                <a:cs typeface="Times New Roman"/>
              </a:rPr>
              <a:t>Vision-based proof of work, with no local GPU needed</a:t>
            </a:r>
          </a:p>
          <a:p>
            <a:pPr algn="l" marL="228600" indent="-228600">
              <a:spcBef>
                <a:spcPts val="600"/>
              </a:spcBef>
              <a:buFont typeface="Arial"/>
              <a:buChar char="•"/>
            </a:pPr>
            <a:r>
              <a:rPr sz="1800" b="0" i="0">
                <a:solidFill>
                  <a:srgbClr val="262626"/>
                </a:solidFill>
                <a:latin typeface="Times New Roman"/>
                <a:cs typeface="Times New Roman"/>
              </a:rPr>
              <a:t>Dual runtime (Flask, Node.js) and dual storage for flexible deployment</a:t>
            </a:r>
          </a:p>
        </p:txBody>
      </p:sp>
      <p:sp>
        <p:nvSpPr>
          <p:cNvPr id="10" name="Impact 2"/>
          <p:cNvSpPr/>
          <p:nvPr/>
        </p:nvSpPr>
        <p:spPr>
          <a:xfrm>
            <a:off x="4407408" y="1600200"/>
            <a:ext cx="3383280" cy="4297680"/>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54864" bIns="54864"/>
          <a:lstStyle/>
          <a:p>
            <a:pPr algn="l" marL="0" indent="0">
              <a:spcBef>
                <a:spcPts val="0"/>
              </a:spcBef>
              <a:buNone/>
            </a:pPr>
            <a:r>
              <a:rPr sz="2200" b="1" i="0">
                <a:solidFill>
                  <a:srgbClr val="C00000"/>
                </a:solidFill>
                <a:latin typeface="Times New Roman"/>
                <a:cs typeface="Times New Roman"/>
              </a:rPr>
              <a:t>Social Impact</a:t>
            </a:r>
          </a:p>
          <a:p>
            <a:pPr algn="l" marL="228600" indent="-228600">
              <a:spcBef>
                <a:spcPts val="600"/>
              </a:spcBef>
              <a:buFont typeface="Arial"/>
              <a:buChar char="•"/>
            </a:pPr>
            <a:r>
              <a:rPr sz="1800" b="0" i="0">
                <a:solidFill>
                  <a:srgbClr val="262626"/>
                </a:solidFill>
                <a:latin typeface="Times New Roman"/>
                <a:cs typeface="Times New Roman"/>
              </a:rPr>
              <a:t>Telugu, Hindi, Tamil and voice input widen access for citizens</a:t>
            </a:r>
          </a:p>
          <a:p>
            <a:pPr algn="l" marL="228600" indent="-228600">
              <a:spcBef>
                <a:spcPts val="600"/>
              </a:spcBef>
              <a:buFont typeface="Arial"/>
              <a:buChar char="•"/>
            </a:pPr>
            <a:r>
              <a:rPr sz="1800" b="0" i="0">
                <a:solidFill>
                  <a:srgbClr val="262626"/>
                </a:solidFill>
                <a:latin typeface="Times New Roman"/>
                <a:cs typeface="Times New Roman"/>
              </a:rPr>
              <a:t>Civic SOS escalates life-safety hazards with a 6-hour SLA</a:t>
            </a:r>
          </a:p>
          <a:p>
            <a:pPr algn="l" marL="228600" indent="-228600">
              <a:spcBef>
                <a:spcPts val="600"/>
              </a:spcBef>
              <a:buFont typeface="Arial"/>
              <a:buChar char="•"/>
            </a:pPr>
            <a:r>
              <a:rPr sz="1800" b="0" i="0">
                <a:solidFill>
                  <a:srgbClr val="262626"/>
                </a:solidFill>
                <a:latin typeface="Times New Roman"/>
                <a:cs typeface="Times New Roman"/>
              </a:rPr>
              <a:t>Ratings, proof photos and open data build public trust</a:t>
            </a:r>
          </a:p>
        </p:txBody>
      </p:sp>
      <p:sp>
        <p:nvSpPr>
          <p:cNvPr id="11" name="Impact 3"/>
          <p:cNvSpPr/>
          <p:nvPr/>
        </p:nvSpPr>
        <p:spPr>
          <a:xfrm>
            <a:off x="7973568" y="1600200"/>
            <a:ext cx="3383280" cy="4297680"/>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54864" bIns="54864"/>
          <a:lstStyle/>
          <a:p>
            <a:pPr algn="l" marL="0" indent="0">
              <a:spcBef>
                <a:spcPts val="0"/>
              </a:spcBef>
              <a:buNone/>
            </a:pPr>
            <a:r>
              <a:rPr sz="2200" b="1" i="0">
                <a:solidFill>
                  <a:srgbClr val="C00000"/>
                </a:solidFill>
                <a:latin typeface="Times New Roman"/>
                <a:cs typeface="Times New Roman"/>
              </a:rPr>
              <a:t>Economic Impact</a:t>
            </a:r>
          </a:p>
          <a:p>
            <a:pPr algn="l" marL="228600" indent="-228600">
              <a:spcBef>
                <a:spcPts val="600"/>
              </a:spcBef>
              <a:buFont typeface="Arial"/>
              <a:buChar char="•"/>
            </a:pPr>
            <a:r>
              <a:rPr sz="1800" b="0" i="0">
                <a:solidFill>
                  <a:srgbClr val="262626"/>
                </a:solidFill>
                <a:latin typeface="Times New Roman"/>
                <a:cs typeface="Times New Roman"/>
              </a:rPr>
              <a:t>Automatic routing cuts manual triage effort</a:t>
            </a:r>
          </a:p>
          <a:p>
            <a:pPr algn="l" marL="228600" indent="-228600">
              <a:spcBef>
                <a:spcPts val="600"/>
              </a:spcBef>
              <a:buFont typeface="Arial"/>
              <a:buChar char="•"/>
            </a:pPr>
            <a:r>
              <a:rPr sz="1800" b="0" i="0">
                <a:solidFill>
                  <a:srgbClr val="262626"/>
                </a:solidFill>
                <a:latin typeface="Times New Roman"/>
                <a:cs typeface="Times New Roman"/>
              </a:rPr>
              <a:t>Duplicate detection avoids sending crews twice for one problem</a:t>
            </a:r>
          </a:p>
          <a:p>
            <a:pPr algn="l" marL="228600" indent="-228600">
              <a:spcBef>
                <a:spcPts val="600"/>
              </a:spcBef>
              <a:buFont typeface="Arial"/>
              <a:buChar char="•"/>
            </a:pPr>
            <a:r>
              <a:rPr sz="1800" b="0" i="0">
                <a:solidFill>
                  <a:srgbClr val="262626"/>
                </a:solidFill>
                <a:latin typeface="Times New Roman"/>
                <a:cs typeface="Times New Roman"/>
              </a:rPr>
              <a:t>Verified repairs reduce false closures and repeat visits</a:t>
            </a:r>
          </a:p>
        </p:txBody>
      </p:sp>
    </p:spTree>
    <p:extLst>
      <p:ext uri="{BB962C8B-B14F-4D97-AF65-F5344CB8AC3E}">
        <p14:creationId xmlns:p14="http://schemas.microsoft.com/office/powerpoint/2010/main" val="15493172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54A12-A0D7-06D5-FBC6-343B3FF8AA0E}"/>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Challenges Faced </a:t>
            </a:r>
          </a:p>
        </p:txBody>
      </p:sp>
      <p:sp>
        <p:nvSpPr>
          <p:cNvPr id="3" name="Content Placeholder 2">
            <a:extLst>
              <a:ext uri="{FF2B5EF4-FFF2-40B4-BE49-F238E27FC236}">
                <a16:creationId xmlns:a16="http://schemas.microsoft.com/office/drawing/2014/main" id="{AA1E345A-F78E-0E9D-1B8F-9ED5228FBEBD}"/>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C4A1DEE8-2712-97F8-0AA0-D407B46B9087}"/>
              </a:ext>
            </a:extLst>
          </p:cNvPr>
          <p:cNvSpPr>
            <a:spLocks noGrp="1"/>
          </p:cNvSpPr>
          <p:nvPr>
            <p:ph type="dt" sz="half" idx="10"/>
          </p:nvPr>
        </p:nvSpPr>
        <p:spPr/>
        <p:txBody>
          <a:bodyPr/>
          <a:lstStyle/>
          <a:p>
            <a:fld id="{FE9EBF22-2CB2-4164-AF8B-6A4D1059DC13}" type="datetime1">
              <a:rPr lang="en-IN" smtClean="0"/>
              <a:t>02-10-2026</a:t>
            </a:fld>
            <a:endParaRPr lang="en-IN"/>
          </a:p>
        </p:txBody>
      </p:sp>
      <p:sp>
        <p:nvSpPr>
          <p:cNvPr id="6" name="Slide Number Placeholder 5">
            <a:extLst>
              <a:ext uri="{FF2B5EF4-FFF2-40B4-BE49-F238E27FC236}">
                <a16:creationId xmlns:a16="http://schemas.microsoft.com/office/drawing/2014/main" id="{FE1246F4-1131-9BC1-6D0A-6F9F2793F809}"/>
              </a:ext>
            </a:extLst>
          </p:cNvPr>
          <p:cNvSpPr>
            <a:spLocks noGrp="1"/>
          </p:cNvSpPr>
          <p:nvPr>
            <p:ph type="sldNum" sz="quarter" idx="12"/>
          </p:nvPr>
        </p:nvSpPr>
        <p:spPr/>
        <p:txBody>
          <a:bodyPr/>
          <a:lstStyle/>
          <a:p>
            <a:fld id="{47526DCF-DF60-4378-BFCC-D3A207344837}" type="slidenum">
              <a:rPr lang="en-IN" smtClean="0"/>
              <a:t>14</a:t>
            </a:fld>
            <a:endParaRPr lang="en-IN"/>
          </a:p>
        </p:txBody>
      </p:sp>
      <p:pic>
        <p:nvPicPr>
          <p:cNvPr id="8" name="Picture 7">
            <a:extLst>
              <a:ext uri="{FF2B5EF4-FFF2-40B4-BE49-F238E27FC236}">
                <a16:creationId xmlns:a16="http://schemas.microsoft.com/office/drawing/2014/main" id="{1771C8C2-B765-3F27-69DF-415556C21FD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80203" y="297924"/>
            <a:ext cx="1049749" cy="677182"/>
          </a:xfrm>
          <a:prstGeom prst="rect">
            <a:avLst/>
          </a:prstGeom>
          <a:noFill/>
          <a:ln>
            <a:noFill/>
          </a:ln>
        </p:spPr>
      </p:pic>
      <p:graphicFrame>
        <p:nvGraphicFramePr>
          <p:cNvPr id="9" name="Challenges table"/>
          <p:cNvGraphicFramePr>
            <a:graphicFrameLocks noGrp="1"/>
          </p:cNvGraphicFramePr>
          <p:nvPr/>
        </p:nvGraphicFramePr>
        <p:xfrm>
          <a:off x="841248" y="1600200"/>
          <a:ext cx="10515600" cy="4343400"/>
        </p:xfrm>
        <a:graphic>
          <a:graphicData uri="http://schemas.openxmlformats.org/drawingml/2006/table">
            <a:tbl>
              <a:tblPr firstRow="0" bandRow="0">
                <a:tableStyleId>{5C22544A-7EE6-4342-B048-85BDC9FD1C3A}</a:tableStyleId>
              </a:tblPr>
              <a:tblGrid>
                <a:gridCol w="4754880"/>
                <a:gridCol w="5760720"/>
              </a:tblGrid>
              <a:tr h="457200">
                <a:tc>
                  <a:txBody>
                    <a:bodyPr wrap="square"/>
                    <a:lstStyle/>
                    <a:p>
                      <a:r>
                        <a:rPr sz="1700" b="1" i="0">
                          <a:solidFill>
                            <a:srgbClr val="FFFFFF"/>
                          </a:solidFill>
                          <a:latin typeface="Times New Roman"/>
                          <a:cs typeface="Times New Roman"/>
                        </a:rPr>
                        <a:t>Challenge</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C00000"/>
                    </a:solidFill>
                  </a:tcPr>
                </a:tc>
                <a:tc>
                  <a:txBody>
                    <a:bodyPr wrap="square"/>
                    <a:lstStyle/>
                    <a:p>
                      <a:r>
                        <a:rPr sz="1700" b="1" i="0">
                          <a:solidFill>
                            <a:srgbClr val="FFFFFF"/>
                          </a:solidFill>
                          <a:latin typeface="Times New Roman"/>
                          <a:cs typeface="Times New Roman"/>
                        </a:rPr>
                        <a:t>How SCS addressed it</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C00000"/>
                    </a:solidFill>
                  </a:tcPr>
                </a:tc>
              </a:tr>
              <a:tr h="777240">
                <a:tc>
                  <a:txBody>
                    <a:bodyPr wrap="square"/>
                    <a:lstStyle/>
                    <a:p>
                      <a:r>
                        <a:rPr sz="1700" b="1" i="0">
                          <a:solidFill>
                            <a:srgbClr val="262626"/>
                          </a:solidFill>
                          <a:latin typeface="Times New Roman"/>
                          <a:cs typeface="Times New Roman"/>
                        </a:rPr>
                        <a:t>Heavy local GPU needs of YOLO-style models</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r>
                        <a:rPr sz="1700" b="0" i="0">
                          <a:solidFill>
                            <a:srgbClr val="262626"/>
                          </a:solidFill>
                          <a:latin typeface="Times New Roman"/>
                          <a:cs typeface="Times New Roman"/>
                        </a:rPr>
                        <a:t>Gemini multimodal vision API with OpenCV feature extraction</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777240">
                <a:tc>
                  <a:txBody>
                    <a:bodyPr wrap="square"/>
                    <a:lstStyle/>
                    <a:p>
                      <a:r>
                        <a:rPr sz="1700" b="1" i="0">
                          <a:solidFill>
                            <a:srgbClr val="262626"/>
                          </a:solidFill>
                          <a:latin typeface="Times New Roman"/>
                          <a:cs typeface="Times New Roman"/>
                        </a:rPr>
                        <a:t>Issues overlapping two departments (e.g. leak damaging a road)</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8ECEC"/>
                    </a:solidFill>
                  </a:tcPr>
                </a:tc>
                <a:tc>
                  <a:txBody>
                    <a:bodyPr wrap="square"/>
                    <a:lstStyle/>
                    <a:p>
                      <a:r>
                        <a:rPr sz="1700" b="0" i="0">
                          <a:solidFill>
                            <a:srgbClr val="262626"/>
                          </a:solidFill>
                          <a:latin typeface="Times New Roman"/>
                          <a:cs typeface="Times New Roman"/>
                        </a:rPr>
                        <a:t>Conflict alert asks the citizen to pick the primary department</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8ECEC"/>
                    </a:solidFill>
                  </a:tcPr>
                </a:tc>
              </a:tr>
              <a:tr h="777240">
                <a:tc>
                  <a:txBody>
                    <a:bodyPr wrap="square"/>
                    <a:lstStyle/>
                    <a:p>
                      <a:r>
                        <a:rPr sz="1700" b="1" i="0">
                          <a:solidFill>
                            <a:srgbClr val="262626"/>
                          </a:solidFill>
                          <a:latin typeface="Times New Roman"/>
                          <a:cs typeface="Times New Roman"/>
                        </a:rPr>
                        <a:t>Fake, identical or unrelated resolution photos</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r>
                        <a:rPr sz="1700" b="0" i="0">
                          <a:solidFill>
                            <a:srgbClr val="262626"/>
                          </a:solidFill>
                          <a:latin typeface="Times New Roman"/>
                          <a:cs typeface="Times New Roman"/>
                        </a:rPr>
                        <a:t>Before/After AI comparison; flagged cases go to the quarantine desk</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777240">
                <a:tc>
                  <a:txBody>
                    <a:bodyPr wrap="square"/>
                    <a:lstStyle/>
                    <a:p>
                      <a:r>
                        <a:rPr sz="1700" b="1" i="0">
                          <a:solidFill>
                            <a:srgbClr val="262626"/>
                          </a:solidFill>
                          <a:latin typeface="Times New Roman"/>
                          <a:cs typeface="Times New Roman"/>
                        </a:rPr>
                        <a:t>Duplicate reports from neighbours</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8ECEC"/>
                    </a:solidFill>
                  </a:tcPr>
                </a:tc>
                <a:tc>
                  <a:txBody>
                    <a:bodyPr wrap="square"/>
                    <a:lstStyle/>
                    <a:p>
                      <a:r>
                        <a:rPr sz="1700" b="0" i="0">
                          <a:solidFill>
                            <a:srgbClr val="262626"/>
                          </a:solidFill>
                          <a:latin typeface="Times New Roman"/>
                          <a:cs typeface="Times New Roman"/>
                        </a:rPr>
                        <a:t>GPS radius check plus semantic text similarity</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8ECEC"/>
                    </a:solidFill>
                  </a:tcPr>
                </a:tc>
              </a:tr>
              <a:tr h="777240">
                <a:tc>
                  <a:txBody>
                    <a:bodyPr wrap="square"/>
                    <a:lstStyle/>
                    <a:p>
                      <a:r>
                        <a:rPr sz="1700" b="1" i="0">
                          <a:solidFill>
                            <a:srgbClr val="262626"/>
                          </a:solidFill>
                          <a:latin typeface="Times New Roman"/>
                          <a:cs typeface="Times New Roman"/>
                        </a:rPr>
                        <a:t>Local prototyping vs cloud production</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r>
                        <a:rPr sz="1700" b="0" i="0">
                          <a:solidFill>
                            <a:srgbClr val="262626"/>
                          </a:solidFill>
                          <a:latin typeface="Times New Roman"/>
                          <a:cs typeface="Times New Roman"/>
                        </a:rPr>
                        <a:t>Flask with SQLite locally; Node.js with Supabase PostgreSQL on AI Studio</a:t>
                      </a:r>
                    </a:p>
                  </a:txBody>
                  <a:tcPr marL="91440" marR="91440"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Tree>
    <p:extLst>
      <p:ext uri="{BB962C8B-B14F-4D97-AF65-F5344CB8AC3E}">
        <p14:creationId xmlns:p14="http://schemas.microsoft.com/office/powerpoint/2010/main" val="4236308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716F3-F74C-A352-259B-B4A788B579ED}"/>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Conclusion </a:t>
            </a:r>
          </a:p>
        </p:txBody>
      </p:sp>
      <p:sp>
        <p:nvSpPr>
          <p:cNvPr id="3" name="Content Placeholder 2">
            <a:extLst>
              <a:ext uri="{FF2B5EF4-FFF2-40B4-BE49-F238E27FC236}">
                <a16:creationId xmlns:a16="http://schemas.microsoft.com/office/drawing/2014/main" id="{3804FB79-58CF-5340-6358-31F2F2D1602F}"/>
              </a:ext>
            </a:extLst>
          </p:cNvPr>
          <p:cNvSpPr>
            <a:spLocks noGrp="1"/>
          </p:cNvSpPr>
          <p:nvPr>
            <p:ph idx="1"/>
          </p:nvPr>
        </p:nvSpPr>
        <p:spPr>
          <a:xfrm>
            <a:off x="841248" y="1600200"/>
            <a:ext cx="6400800" cy="4480560"/>
          </a:xfrm>
        </p:spPr>
        <p:txBody>
          <a:bodyPr wrap="square">
            <a:noAutofit/>
          </a:bodyPr>
          <a:lstStyle/>
          <a:p>
            <a:pPr marL="285750" indent="-285750">
              <a:spcBef>
                <a:spcPts val="0"/>
              </a:spcBef>
            </a:pPr>
            <a:r>
              <a:rPr sz="2100" b="0" i="0">
                <a:solidFill>
                  <a:srgbClr val="262626"/>
                </a:solidFill>
                <a:latin typeface="Times New Roman"/>
                <a:cs typeface="Times New Roman"/>
              </a:rPr>
              <a:t>SCS turns complaint handling into a closed loop: report, classify, route, resolve, verify.</a:t>
            </a:r>
          </a:p>
          <a:p>
            <a:pPr marL="285750" indent="-285750">
              <a:spcBef>
                <a:spcPts val="1600"/>
              </a:spcBef>
            </a:pPr>
            <a:r>
              <a:rPr sz="2100" b="0" i="0">
                <a:solidFill>
                  <a:srgbClr val="262626"/>
                </a:solidFill>
                <a:latin typeface="Times New Roman"/>
                <a:cs typeface="Times New Roman"/>
              </a:rPr>
              <a:t>Explainable AI, computer vision and spatial analysis work together in one live platform.</a:t>
            </a:r>
          </a:p>
          <a:p>
            <a:pPr marL="285750" indent="-285750">
              <a:spcBef>
                <a:spcPts val="1600"/>
              </a:spcBef>
            </a:pPr>
            <a:r>
              <a:rPr sz="2100" b="0" i="0">
                <a:solidFill>
                  <a:srgbClr val="262626"/>
                </a:solidFill>
                <a:latin typeface="Times New Roman"/>
                <a:cs typeface="Times New Roman"/>
              </a:rPr>
              <a:t>Before/After verification and the quarantine desk make “resolved” mean resolved.</a:t>
            </a:r>
          </a:p>
          <a:p>
            <a:pPr marL="285750" indent="-285750">
              <a:spcBef>
                <a:spcPts val="1600"/>
              </a:spcBef>
            </a:pPr>
            <a:r>
              <a:rPr sz="2100" b="0" i="0">
                <a:solidFill>
                  <a:srgbClr val="262626"/>
                </a:solidFill>
                <a:latin typeface="Times New Roman"/>
                <a:cs typeface="Times New Roman"/>
              </a:rPr>
              <a:t>Voice input, multilingual screens and Civic SOS make it usable and safe for real communities.</a:t>
            </a:r>
          </a:p>
        </p:txBody>
      </p:sp>
      <p:sp>
        <p:nvSpPr>
          <p:cNvPr id="4" name="Date Placeholder 3">
            <a:extLst>
              <a:ext uri="{FF2B5EF4-FFF2-40B4-BE49-F238E27FC236}">
                <a16:creationId xmlns:a16="http://schemas.microsoft.com/office/drawing/2014/main" id="{EE5ACB72-4075-D8FE-FA30-61E1E501C761}"/>
              </a:ext>
            </a:extLst>
          </p:cNvPr>
          <p:cNvSpPr>
            <a:spLocks noGrp="1"/>
          </p:cNvSpPr>
          <p:nvPr>
            <p:ph type="dt" sz="half" idx="10"/>
          </p:nvPr>
        </p:nvSpPr>
        <p:spPr/>
        <p:txBody>
          <a:bodyPr/>
          <a:lstStyle/>
          <a:p>
            <a:fld id="{77C97835-E227-4A81-8A01-A516A9EB8CD9}" type="datetime1">
              <a:rPr lang="en-IN" smtClean="0"/>
              <a:t>02-10-2026</a:t>
            </a:fld>
            <a:endParaRPr lang="en-IN"/>
          </a:p>
        </p:txBody>
      </p:sp>
      <p:sp>
        <p:nvSpPr>
          <p:cNvPr id="6" name="Slide Number Placeholder 5">
            <a:extLst>
              <a:ext uri="{FF2B5EF4-FFF2-40B4-BE49-F238E27FC236}">
                <a16:creationId xmlns:a16="http://schemas.microsoft.com/office/drawing/2014/main" id="{ACC6ABC5-6C65-1409-EB69-E2FAC1696D1C}"/>
              </a:ext>
            </a:extLst>
          </p:cNvPr>
          <p:cNvSpPr>
            <a:spLocks noGrp="1"/>
          </p:cNvSpPr>
          <p:nvPr>
            <p:ph type="sldNum" sz="quarter" idx="12"/>
          </p:nvPr>
        </p:nvSpPr>
        <p:spPr/>
        <p:txBody>
          <a:bodyPr/>
          <a:lstStyle/>
          <a:p>
            <a:fld id="{47526DCF-DF60-4378-BFCC-D3A207344837}" type="slidenum">
              <a:rPr lang="en-IN" smtClean="0"/>
              <a:t>15</a:t>
            </a:fld>
            <a:endParaRPr lang="en-IN"/>
          </a:p>
        </p:txBody>
      </p:sp>
      <p:pic>
        <p:nvPicPr>
          <p:cNvPr id="8" name="Picture 7">
            <a:extLst>
              <a:ext uri="{FF2B5EF4-FFF2-40B4-BE49-F238E27FC236}">
                <a16:creationId xmlns:a16="http://schemas.microsoft.com/office/drawing/2014/main" id="{3D2F3026-24E1-9526-6935-DA510D74B4C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80203" y="297924"/>
            <a:ext cx="1049749" cy="677182"/>
          </a:xfrm>
          <a:prstGeom prst="rect">
            <a:avLst/>
          </a:prstGeom>
          <a:noFill/>
          <a:ln>
            <a:noFill/>
          </a:ln>
        </p:spPr>
      </p:pic>
      <p:sp>
        <p:nvSpPr>
          <p:cNvPr id="9" name="Highlights card"/>
          <p:cNvSpPr/>
          <p:nvPr/>
        </p:nvSpPr>
        <p:spPr>
          <a:xfrm>
            <a:off x="7635240" y="1600200"/>
            <a:ext cx="3703320" cy="3383280"/>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54864" bIns="54864"/>
          <a:lstStyle/>
          <a:p>
            <a:pPr algn="l" marL="0" indent="0">
              <a:spcBef>
                <a:spcPts val="0"/>
              </a:spcBef>
              <a:buNone/>
            </a:pPr>
            <a:r>
              <a:rPr sz="2100" b="1" i="0">
                <a:solidFill>
                  <a:srgbClr val="C00000"/>
                </a:solidFill>
                <a:latin typeface="Times New Roman"/>
                <a:cs typeface="Times New Roman"/>
              </a:rPr>
              <a:t>Implemented highlights</a:t>
            </a:r>
          </a:p>
          <a:p>
            <a:pPr algn="l" marL="228600" indent="-228600">
              <a:spcBef>
                <a:spcPts val="600"/>
              </a:spcBef>
              <a:buFont typeface="Arial"/>
              <a:buChar char="•"/>
            </a:pPr>
            <a:r>
              <a:rPr sz="1900" b="0" i="0">
                <a:solidFill>
                  <a:srgbClr val="262626"/>
                </a:solidFill>
                <a:latin typeface="Times New Roman"/>
                <a:cs typeface="Times New Roman"/>
              </a:rPr>
              <a:t>Voice input in Telugu, Hindi, Tamil</a:t>
            </a:r>
          </a:p>
          <a:p>
            <a:pPr algn="l" marL="228600" indent="-228600">
              <a:spcBef>
                <a:spcPts val="600"/>
              </a:spcBef>
              <a:buFont typeface="Arial"/>
              <a:buChar char="•"/>
            </a:pPr>
            <a:r>
              <a:rPr sz="1900" b="0" i="0">
                <a:solidFill>
                  <a:srgbClr val="262626"/>
                </a:solidFill>
                <a:latin typeface="Times New Roman"/>
                <a:cs typeface="Times New Roman"/>
              </a:rPr>
              <a:t>Civic SOS with 6-hour SLA</a:t>
            </a:r>
          </a:p>
          <a:p>
            <a:pPr algn="l" marL="228600" indent="-228600">
              <a:spcBef>
                <a:spcPts val="600"/>
              </a:spcBef>
              <a:buFont typeface="Arial"/>
              <a:buChar char="•"/>
            </a:pPr>
            <a:r>
              <a:rPr sz="1900" b="0" i="0">
                <a:solidFill>
                  <a:srgbClr val="262626"/>
                </a:solidFill>
                <a:latin typeface="Times New Roman"/>
                <a:cs typeface="Times New Roman"/>
              </a:rPr>
              <a:t>Two-way admin directives</a:t>
            </a:r>
          </a:p>
          <a:p>
            <a:pPr algn="l" marL="228600" indent="-228600">
              <a:spcBef>
                <a:spcPts val="600"/>
              </a:spcBef>
              <a:buFont typeface="Arial"/>
              <a:buChar char="•"/>
            </a:pPr>
            <a:r>
              <a:rPr sz="1900" b="0" i="0">
                <a:solidFill>
                  <a:srgbClr val="262626"/>
                </a:solidFill>
                <a:latin typeface="Times New Roman"/>
                <a:cs typeface="Times New Roman"/>
              </a:rPr>
              <a:t>Before/After AI verification</a:t>
            </a:r>
          </a:p>
        </p:txBody>
      </p:sp>
      <p:sp>
        <p:nvSpPr>
          <p:cNvPr id="10" name="Live link"/>
          <p:cNvSpPr/>
          <p:nvPr/>
        </p:nvSpPr>
        <p:spPr>
          <a:xfrm>
            <a:off x="7635240" y="5166360"/>
            <a:ext cx="3703320" cy="731520"/>
          </a:xfrm>
          <a:prstGeom prst="roundRect">
            <a:avLst>
              <a:gd name="adj" fmla="val 6000"/>
            </a:avLst>
          </a:prstGeom>
          <a:no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marL="0" indent="0">
              <a:spcBef>
                <a:spcPts val="0"/>
              </a:spcBef>
              <a:buNone/>
            </a:pPr>
            <a:r>
              <a:rPr sz="1600" b="1" i="0">
                <a:solidFill>
                  <a:srgbClr val="262626"/>
                </a:solidFill>
                <a:latin typeface="Times New Roman"/>
                <a:cs typeface="Times New Roman"/>
              </a:rPr>
              <a:t>Live: </a:t>
            </a:r>
            <a:r>
              <a:rPr sz="1600" b="0" i="0">
                <a:solidFill>
                  <a:srgbClr val="262626"/>
                </a:solidFill>
                <a:latin typeface="Times New Roman"/>
                <a:cs typeface="Times New Roman"/>
              </a:rPr>
              <a:t>ccpai-1.ai.studio</a:t>
            </a:r>
          </a:p>
        </p:txBody>
      </p:sp>
    </p:spTree>
    <p:extLst>
      <p:ext uri="{BB962C8B-B14F-4D97-AF65-F5344CB8AC3E}">
        <p14:creationId xmlns:p14="http://schemas.microsoft.com/office/powerpoint/2010/main" val="183795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C0666-1392-9333-3018-8197057B1BDB}"/>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Future Work </a:t>
            </a:r>
          </a:p>
        </p:txBody>
      </p:sp>
      <p:sp>
        <p:nvSpPr>
          <p:cNvPr id="4" name="Date Placeholder 3">
            <a:extLst>
              <a:ext uri="{FF2B5EF4-FFF2-40B4-BE49-F238E27FC236}">
                <a16:creationId xmlns:a16="http://schemas.microsoft.com/office/drawing/2014/main" id="{56F08B5E-4483-07DB-81C8-839D380A8142}"/>
              </a:ext>
            </a:extLst>
          </p:cNvPr>
          <p:cNvSpPr>
            <a:spLocks noGrp="1"/>
          </p:cNvSpPr>
          <p:nvPr>
            <p:ph type="dt" sz="half" idx="10"/>
          </p:nvPr>
        </p:nvSpPr>
        <p:spPr/>
        <p:txBody>
          <a:bodyPr/>
          <a:lstStyle/>
          <a:p>
            <a:fld id="{2193EFD1-43BA-46A2-BC19-C8E28D2B8CA2}" type="datetime1">
              <a:rPr lang="en-IN" smtClean="0"/>
              <a:t>02-10-2026</a:t>
            </a:fld>
            <a:endParaRPr lang="en-IN"/>
          </a:p>
        </p:txBody>
      </p:sp>
      <p:sp>
        <p:nvSpPr>
          <p:cNvPr id="6" name="Slide Number Placeholder 5">
            <a:extLst>
              <a:ext uri="{FF2B5EF4-FFF2-40B4-BE49-F238E27FC236}">
                <a16:creationId xmlns:a16="http://schemas.microsoft.com/office/drawing/2014/main" id="{57708094-4C4F-2666-5C5E-3A8653E9BA71}"/>
              </a:ext>
            </a:extLst>
          </p:cNvPr>
          <p:cNvSpPr>
            <a:spLocks noGrp="1"/>
          </p:cNvSpPr>
          <p:nvPr>
            <p:ph type="sldNum" sz="quarter" idx="12"/>
          </p:nvPr>
        </p:nvSpPr>
        <p:spPr/>
        <p:txBody>
          <a:bodyPr/>
          <a:lstStyle/>
          <a:p>
            <a:fld id="{47526DCF-DF60-4378-BFCC-D3A207344837}" type="slidenum">
              <a:rPr lang="en-IN" smtClean="0"/>
              <a:t>16</a:t>
            </a:fld>
            <a:endParaRPr lang="en-IN"/>
          </a:p>
        </p:txBody>
      </p:sp>
      <p:pic>
        <p:nvPicPr>
          <p:cNvPr id="8" name="Picture 7">
            <a:extLst>
              <a:ext uri="{FF2B5EF4-FFF2-40B4-BE49-F238E27FC236}">
                <a16:creationId xmlns:a16="http://schemas.microsoft.com/office/drawing/2014/main" id="{CD329E75-110B-7CF9-13A1-2358F49180F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80203" y="297924"/>
            <a:ext cx="1049749" cy="677182"/>
          </a:xfrm>
          <a:prstGeom prst="rect">
            <a:avLst/>
          </a:prstGeom>
          <a:noFill/>
          <a:ln>
            <a:noFill/>
          </a:ln>
        </p:spPr>
      </p:pic>
      <p:sp>
        <p:nvSpPr>
          <p:cNvPr id="9" name="Future number 1"/>
          <p:cNvSpPr/>
          <p:nvPr/>
        </p:nvSpPr>
        <p:spPr>
          <a:xfrm>
            <a:off x="841248" y="1673352"/>
            <a:ext cx="566928" cy="566928"/>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marL="0" indent="0">
              <a:spcBef>
                <a:spcPts val="0"/>
              </a:spcBef>
              <a:buNone/>
            </a:pPr>
            <a:r>
              <a:rPr sz="2000" b="1" i="0">
                <a:solidFill>
                  <a:srgbClr val="FFFFFF"/>
                </a:solidFill>
                <a:latin typeface="Times New Roman"/>
                <a:cs typeface="Times New Roman"/>
              </a:rPr>
              <a:t>1</a:t>
            </a:r>
          </a:p>
        </p:txBody>
      </p:sp>
      <p:sp>
        <p:nvSpPr>
          <p:cNvPr id="10" name="Future item 1"/>
          <p:cNvSpPr/>
          <p:nvPr/>
        </p:nvSpPr>
        <p:spPr>
          <a:xfrm>
            <a:off x="1600200" y="1600200"/>
            <a:ext cx="9738360" cy="713232"/>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54864" bIns="54864"/>
          <a:lstStyle/>
          <a:p>
            <a:pPr algn="l" marL="0" indent="0">
              <a:spcBef>
                <a:spcPts val="0"/>
              </a:spcBef>
              <a:buNone/>
            </a:pPr>
            <a:r>
              <a:rPr sz="2000" b="0" i="0">
                <a:solidFill>
                  <a:srgbClr val="262626"/>
                </a:solidFill>
                <a:latin typeface="Times New Roman"/>
                <a:cs typeface="Times New Roman"/>
              </a:rPr>
              <a:t>Mobile app with push notifications for status updates and SOS alerts</a:t>
            </a:r>
          </a:p>
        </p:txBody>
      </p:sp>
      <p:sp>
        <p:nvSpPr>
          <p:cNvPr id="11" name="Future number 2"/>
          <p:cNvSpPr/>
          <p:nvPr/>
        </p:nvSpPr>
        <p:spPr>
          <a:xfrm>
            <a:off x="841248" y="2560320"/>
            <a:ext cx="566928" cy="566928"/>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marL="0" indent="0">
              <a:spcBef>
                <a:spcPts val="0"/>
              </a:spcBef>
              <a:buNone/>
            </a:pPr>
            <a:r>
              <a:rPr sz="2000" b="1" i="0">
                <a:solidFill>
                  <a:srgbClr val="FFFFFF"/>
                </a:solidFill>
                <a:latin typeface="Times New Roman"/>
                <a:cs typeface="Times New Roman"/>
              </a:rPr>
              <a:t>2</a:t>
            </a:r>
          </a:p>
        </p:txBody>
      </p:sp>
      <p:sp>
        <p:nvSpPr>
          <p:cNvPr id="12" name="Future item 2"/>
          <p:cNvSpPr/>
          <p:nvPr/>
        </p:nvSpPr>
        <p:spPr>
          <a:xfrm>
            <a:off x="1600200" y="2487168"/>
            <a:ext cx="9738360" cy="713232"/>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54864" bIns="54864"/>
          <a:lstStyle/>
          <a:p>
            <a:pPr algn="l" marL="0" indent="0">
              <a:spcBef>
                <a:spcPts val="0"/>
              </a:spcBef>
              <a:buNone/>
            </a:pPr>
            <a:r>
              <a:rPr sz="2000" b="0" i="0">
                <a:solidFill>
                  <a:srgbClr val="262626"/>
                </a:solidFill>
                <a:latin typeface="Times New Roman"/>
                <a:cs typeface="Times New Roman"/>
              </a:rPr>
              <a:t>More regional languages and offline-friendly complaint drafts</a:t>
            </a:r>
          </a:p>
        </p:txBody>
      </p:sp>
      <p:sp>
        <p:nvSpPr>
          <p:cNvPr id="13" name="Future number 3"/>
          <p:cNvSpPr/>
          <p:nvPr/>
        </p:nvSpPr>
        <p:spPr>
          <a:xfrm>
            <a:off x="841248" y="3447288"/>
            <a:ext cx="566928" cy="566928"/>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marL="0" indent="0">
              <a:spcBef>
                <a:spcPts val="0"/>
              </a:spcBef>
              <a:buNone/>
            </a:pPr>
            <a:r>
              <a:rPr sz="2000" b="1" i="0">
                <a:solidFill>
                  <a:srgbClr val="FFFFFF"/>
                </a:solidFill>
                <a:latin typeface="Times New Roman"/>
                <a:cs typeface="Times New Roman"/>
              </a:rPr>
              <a:t>3</a:t>
            </a:r>
          </a:p>
        </p:txBody>
      </p:sp>
      <p:sp>
        <p:nvSpPr>
          <p:cNvPr id="14" name="Future item 3"/>
          <p:cNvSpPr/>
          <p:nvPr/>
        </p:nvSpPr>
        <p:spPr>
          <a:xfrm>
            <a:off x="1600200" y="3374136"/>
            <a:ext cx="9738360" cy="713232"/>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54864" bIns="54864"/>
          <a:lstStyle/>
          <a:p>
            <a:pPr algn="l" marL="0" indent="0">
              <a:spcBef>
                <a:spcPts val="0"/>
              </a:spcBef>
              <a:buNone/>
            </a:pPr>
            <a:r>
              <a:rPr sz="2000" b="0" i="0">
                <a:solidFill>
                  <a:srgbClr val="262626"/>
                </a:solidFill>
                <a:latin typeface="Times New Roman"/>
                <a:cs typeface="Times New Roman"/>
              </a:rPr>
              <a:t>Fine-tuned defect detectors (potholes, garbage) alongside the Gemini API</a:t>
            </a:r>
          </a:p>
        </p:txBody>
      </p:sp>
      <p:sp>
        <p:nvSpPr>
          <p:cNvPr id="15" name="Future number 4"/>
          <p:cNvSpPr/>
          <p:nvPr/>
        </p:nvSpPr>
        <p:spPr>
          <a:xfrm>
            <a:off x="841248" y="4334256"/>
            <a:ext cx="566928" cy="566928"/>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marL="0" indent="0">
              <a:spcBef>
                <a:spcPts val="0"/>
              </a:spcBef>
              <a:buNone/>
            </a:pPr>
            <a:r>
              <a:rPr sz="2000" b="1" i="0">
                <a:solidFill>
                  <a:srgbClr val="FFFFFF"/>
                </a:solidFill>
                <a:latin typeface="Times New Roman"/>
                <a:cs typeface="Times New Roman"/>
              </a:rPr>
              <a:t>4</a:t>
            </a:r>
          </a:p>
        </p:txBody>
      </p:sp>
      <p:sp>
        <p:nvSpPr>
          <p:cNvPr id="16" name="Future item 4"/>
          <p:cNvSpPr/>
          <p:nvPr/>
        </p:nvSpPr>
        <p:spPr>
          <a:xfrm>
            <a:off x="1600200" y="4261104"/>
            <a:ext cx="9738360" cy="713232"/>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54864" bIns="54864"/>
          <a:lstStyle/>
          <a:p>
            <a:pPr algn="l" marL="0" indent="0">
              <a:spcBef>
                <a:spcPts val="0"/>
              </a:spcBef>
              <a:buNone/>
            </a:pPr>
            <a:r>
              <a:rPr sz="2000" b="0" i="0">
                <a:solidFill>
                  <a:srgbClr val="262626"/>
                </a:solidFill>
                <a:latin typeface="Times New Roman"/>
                <a:cs typeface="Times New Roman"/>
              </a:rPr>
              <a:t>Predictive hotspot analytics from heatmap and complaint history</a:t>
            </a:r>
          </a:p>
        </p:txBody>
      </p:sp>
      <p:sp>
        <p:nvSpPr>
          <p:cNvPr id="17" name="Future number 5"/>
          <p:cNvSpPr/>
          <p:nvPr/>
        </p:nvSpPr>
        <p:spPr>
          <a:xfrm>
            <a:off x="841248" y="5221224"/>
            <a:ext cx="566928" cy="566928"/>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marL="0" indent="0">
              <a:spcBef>
                <a:spcPts val="0"/>
              </a:spcBef>
              <a:buNone/>
            </a:pPr>
            <a:r>
              <a:rPr sz="2000" b="1" i="0">
                <a:solidFill>
                  <a:srgbClr val="FFFFFF"/>
                </a:solidFill>
                <a:latin typeface="Times New Roman"/>
                <a:cs typeface="Times New Roman"/>
              </a:rPr>
              <a:t>5</a:t>
            </a:r>
          </a:p>
        </p:txBody>
      </p:sp>
      <p:sp>
        <p:nvSpPr>
          <p:cNvPr id="18" name="Future item 5"/>
          <p:cNvSpPr/>
          <p:nvPr/>
        </p:nvSpPr>
        <p:spPr>
          <a:xfrm>
            <a:off x="1600200" y="5148072"/>
            <a:ext cx="9738360" cy="713232"/>
          </a:xfrm>
          <a:prstGeom prst="roundRect">
            <a:avLst>
              <a:gd name="adj" fmla="val 6000"/>
            </a:avLst>
          </a:prstGeom>
          <a:solidFill>
            <a:srgbClr val="F8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54864" bIns="54864"/>
          <a:lstStyle/>
          <a:p>
            <a:pPr algn="l" marL="0" indent="0">
              <a:spcBef>
                <a:spcPts val="0"/>
              </a:spcBef>
              <a:buNone/>
            </a:pPr>
            <a:r>
              <a:rPr sz="2000" b="0" i="0">
                <a:solidFill>
                  <a:srgbClr val="262626"/>
                </a:solidFill>
                <a:latin typeface="Times New Roman"/>
                <a:cs typeface="Times New Roman"/>
              </a:rPr>
              <a:t>Integration with municipal systems and SMS / WhatsApp notifications</a:t>
            </a:r>
          </a:p>
        </p:txBody>
      </p:sp>
    </p:spTree>
    <p:extLst>
      <p:ext uri="{BB962C8B-B14F-4D97-AF65-F5344CB8AC3E}">
        <p14:creationId xmlns:p14="http://schemas.microsoft.com/office/powerpoint/2010/main" val="18893062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4AD2F-7B2B-C452-DECD-919AEC63C893}"/>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References</a:t>
            </a:r>
            <a:r>
              <a:rPr lang="en-IN" dirty="0"/>
              <a:t> </a:t>
            </a:r>
          </a:p>
        </p:txBody>
      </p:sp>
      <p:sp>
        <p:nvSpPr>
          <p:cNvPr id="3" name="Content Placeholder 2">
            <a:extLst>
              <a:ext uri="{FF2B5EF4-FFF2-40B4-BE49-F238E27FC236}">
                <a16:creationId xmlns:a16="http://schemas.microsoft.com/office/drawing/2014/main" id="{BFFBDFA1-988C-7F19-3A28-BB7F45AB2086}"/>
              </a:ext>
            </a:extLst>
          </p:cNvPr>
          <p:cNvSpPr>
            <a:spLocks noGrp="1"/>
          </p:cNvSpPr>
          <p:nvPr>
            <p:ph idx="1"/>
          </p:nvPr>
        </p:nvSpPr>
        <p:spPr>
          <a:xfrm>
            <a:off x="841248" y="1600200"/>
            <a:ext cx="10515600" cy="4297680"/>
          </a:xfrm>
        </p:spPr>
        <p:txBody>
          <a:bodyPr wrap="square">
            <a:noAutofit/>
          </a:bodyPr>
          <a:lstStyle/>
          <a:p>
            <a:pPr marL="0" indent="0">
              <a:spcBef>
                <a:spcPts val="0"/>
              </a:spcBef>
              <a:buNone/>
            </a:pPr>
            <a:r>
              <a:rPr sz="1800" b="0" i="0">
                <a:solidFill>
                  <a:srgbClr val="262626"/>
                </a:solidFill>
                <a:latin typeface="Times New Roman"/>
                <a:cs typeface="Times New Roman"/>
              </a:rPr>
              <a:t>[1] G. Salton and C. Buckley, “Term-weighting approaches in automatic text retrieval,” </a:t>
            </a:r>
            <a:r>
              <a:rPr sz="1800" b="0" i="1">
                <a:solidFill>
                  <a:srgbClr val="262626"/>
                </a:solidFill>
                <a:latin typeface="Times New Roman"/>
                <a:cs typeface="Times New Roman"/>
              </a:rPr>
              <a:t>Information Processing &amp; Management</a:t>
            </a:r>
            <a:r>
              <a:rPr sz="1800" b="0" i="0">
                <a:solidFill>
                  <a:srgbClr val="262626"/>
                </a:solidFill>
                <a:latin typeface="Times New Roman"/>
                <a:cs typeface="Times New Roman"/>
              </a:rPr>
              <a:t>, vol. 24, no. 5, pp. 513–523, 1988.</a:t>
            </a:r>
          </a:p>
          <a:p>
            <a:pPr marL="0" indent="0">
              <a:spcBef>
                <a:spcPts val="1200"/>
              </a:spcBef>
              <a:buNone/>
            </a:pPr>
            <a:r>
              <a:rPr sz="1800" b="0" i="0">
                <a:solidFill>
                  <a:srgbClr val="262626"/>
                </a:solidFill>
                <a:latin typeface="Times New Roman"/>
                <a:cs typeface="Times New Roman"/>
              </a:rPr>
              <a:t>[2] J. Redmon, S. Divvala, R. Girshick and A. Farhadi, “You only look once: Unified, real-time object detection,” in </a:t>
            </a:r>
            <a:r>
              <a:rPr sz="1800" b="0" i="1">
                <a:solidFill>
                  <a:srgbClr val="262626"/>
                </a:solidFill>
                <a:latin typeface="Times New Roman"/>
                <a:cs typeface="Times New Roman"/>
              </a:rPr>
              <a:t>Proc. IEEE CVPR</a:t>
            </a:r>
            <a:r>
              <a:rPr sz="1800" b="0" i="0">
                <a:solidFill>
                  <a:srgbClr val="262626"/>
                </a:solidFill>
                <a:latin typeface="Times New Roman"/>
                <a:cs typeface="Times New Roman"/>
              </a:rPr>
              <a:t>, 2016, pp. 779–788.</a:t>
            </a:r>
          </a:p>
          <a:p>
            <a:pPr marL="0" indent="0">
              <a:spcBef>
                <a:spcPts val="1200"/>
              </a:spcBef>
              <a:buNone/>
            </a:pPr>
            <a:r>
              <a:rPr sz="1800" b="0" i="0">
                <a:solidFill>
                  <a:srgbClr val="262626"/>
                </a:solidFill>
                <a:latin typeface="Times New Roman"/>
                <a:cs typeface="Times New Roman"/>
              </a:rPr>
              <a:t>[3] M. T. Ribeiro, S. Singh and C. Guestrin, “‘Why should I trust you?’ Explaining the predictions of any classifier,” in </a:t>
            </a:r>
            <a:r>
              <a:rPr sz="1800" b="0" i="1">
                <a:solidFill>
                  <a:srgbClr val="262626"/>
                </a:solidFill>
                <a:latin typeface="Times New Roman"/>
                <a:cs typeface="Times New Roman"/>
              </a:rPr>
              <a:t>Proc. ACM SIGKDD</a:t>
            </a:r>
            <a:r>
              <a:rPr sz="1800" b="0" i="0">
                <a:solidFill>
                  <a:srgbClr val="262626"/>
                </a:solidFill>
                <a:latin typeface="Times New Roman"/>
                <a:cs typeface="Times New Roman"/>
              </a:rPr>
              <a:t>, 2016, pp. 1135–1144.</a:t>
            </a:r>
          </a:p>
          <a:p>
            <a:pPr marL="0" indent="0">
              <a:spcBef>
                <a:spcPts val="1200"/>
              </a:spcBef>
              <a:buNone/>
            </a:pPr>
            <a:r>
              <a:rPr sz="1800" b="0" i="0">
                <a:solidFill>
                  <a:srgbClr val="262626"/>
                </a:solidFill>
                <a:latin typeface="Times New Roman"/>
                <a:cs typeface="Times New Roman"/>
              </a:rPr>
              <a:t>[4] Gemini Team, Google, “Gemini: A family of highly capable multimodal models,” </a:t>
            </a:r>
            <a:r>
              <a:rPr sz="1800" b="0" i="1">
                <a:solidFill>
                  <a:srgbClr val="262626"/>
                </a:solidFill>
                <a:latin typeface="Times New Roman"/>
                <a:cs typeface="Times New Roman"/>
              </a:rPr>
              <a:t>arXiv:2312.11805</a:t>
            </a:r>
            <a:r>
              <a:rPr sz="1800" b="0" i="0">
                <a:solidFill>
                  <a:srgbClr val="262626"/>
                </a:solidFill>
                <a:latin typeface="Times New Roman"/>
                <a:cs typeface="Times New Roman"/>
              </a:rPr>
              <a:t>, 2023.</a:t>
            </a:r>
          </a:p>
          <a:p>
            <a:pPr marL="0" indent="0">
              <a:spcBef>
                <a:spcPts val="1200"/>
              </a:spcBef>
              <a:buNone/>
            </a:pPr>
            <a:r>
              <a:rPr sz="1800" b="0" i="0">
                <a:solidFill>
                  <a:srgbClr val="262626"/>
                </a:solidFill>
                <a:latin typeface="Times New Roman"/>
                <a:cs typeface="Times New Roman"/>
              </a:rPr>
              <a:t>[5] G. Bradski, “The OpenCV Library,” </a:t>
            </a:r>
            <a:r>
              <a:rPr sz="1800" b="0" i="1">
                <a:solidFill>
                  <a:srgbClr val="262626"/>
                </a:solidFill>
                <a:latin typeface="Times New Roman"/>
                <a:cs typeface="Times New Roman"/>
              </a:rPr>
              <a:t>Dr. Dobb’s Journal of Software Tools</a:t>
            </a:r>
            <a:r>
              <a:rPr sz="1800" b="0" i="0">
                <a:solidFill>
                  <a:srgbClr val="262626"/>
                </a:solidFill>
                <a:latin typeface="Times New Roman"/>
                <a:cs typeface="Times New Roman"/>
              </a:rPr>
              <a:t>, 2000.</a:t>
            </a:r>
          </a:p>
        </p:txBody>
      </p:sp>
      <p:sp>
        <p:nvSpPr>
          <p:cNvPr id="4" name="Date Placeholder 3">
            <a:extLst>
              <a:ext uri="{FF2B5EF4-FFF2-40B4-BE49-F238E27FC236}">
                <a16:creationId xmlns:a16="http://schemas.microsoft.com/office/drawing/2014/main" id="{4A573FE8-0932-BE50-70F2-DCCFB9930475}"/>
              </a:ext>
            </a:extLst>
          </p:cNvPr>
          <p:cNvSpPr>
            <a:spLocks noGrp="1"/>
          </p:cNvSpPr>
          <p:nvPr>
            <p:ph type="dt" sz="half" idx="10"/>
          </p:nvPr>
        </p:nvSpPr>
        <p:spPr/>
        <p:txBody>
          <a:bodyPr/>
          <a:lstStyle/>
          <a:p>
            <a:fld id="{9F2FE5EE-CD67-42A0-9A9D-04CE4D439231}" type="datetime1">
              <a:rPr lang="en-IN" smtClean="0"/>
              <a:t>02-10-2026</a:t>
            </a:fld>
            <a:endParaRPr lang="en-IN"/>
          </a:p>
        </p:txBody>
      </p:sp>
      <p:sp>
        <p:nvSpPr>
          <p:cNvPr id="6" name="Slide Number Placeholder 5">
            <a:extLst>
              <a:ext uri="{FF2B5EF4-FFF2-40B4-BE49-F238E27FC236}">
                <a16:creationId xmlns:a16="http://schemas.microsoft.com/office/drawing/2014/main" id="{5E6A9A61-9870-D7FA-34D9-C5E639AC0867}"/>
              </a:ext>
            </a:extLst>
          </p:cNvPr>
          <p:cNvSpPr>
            <a:spLocks noGrp="1"/>
          </p:cNvSpPr>
          <p:nvPr>
            <p:ph type="sldNum" sz="quarter" idx="12"/>
          </p:nvPr>
        </p:nvSpPr>
        <p:spPr/>
        <p:txBody>
          <a:bodyPr/>
          <a:lstStyle/>
          <a:p>
            <a:fld id="{47526DCF-DF60-4378-BFCC-D3A207344837}" type="slidenum">
              <a:rPr lang="en-IN" smtClean="0"/>
              <a:t>17</a:t>
            </a:fld>
            <a:endParaRPr lang="en-IN"/>
          </a:p>
        </p:txBody>
      </p:sp>
      <p:pic>
        <p:nvPicPr>
          <p:cNvPr id="8" name="Picture 7">
            <a:extLst>
              <a:ext uri="{FF2B5EF4-FFF2-40B4-BE49-F238E27FC236}">
                <a16:creationId xmlns:a16="http://schemas.microsoft.com/office/drawing/2014/main" id="{9563E415-325C-FD52-3C9D-49EB0FD0873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80203" y="297924"/>
            <a:ext cx="1049749" cy="677182"/>
          </a:xfrm>
          <a:prstGeom prst="rect">
            <a:avLst/>
          </a:prstGeom>
          <a:noFill/>
          <a:ln>
            <a:noFill/>
          </a:ln>
        </p:spPr>
      </p:pic>
    </p:spTree>
    <p:extLst>
      <p:ext uri="{BB962C8B-B14F-4D97-AF65-F5344CB8AC3E}">
        <p14:creationId xmlns:p14="http://schemas.microsoft.com/office/powerpoint/2010/main" val="36593767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F66C50-6FD8-DD5F-6FF5-BB9DD6B7E1D3}"/>
              </a:ext>
            </a:extLst>
          </p:cNvPr>
          <p:cNvSpPr>
            <a:spLocks noGrp="1"/>
          </p:cNvSpPr>
          <p:nvPr>
            <p:ph idx="1"/>
          </p:nvPr>
        </p:nvSpPr>
        <p:spPr/>
        <p:txBody>
          <a:bodyPr/>
          <a:lstStyle/>
          <a:p>
            <a:pPr marL="0" indent="0" algn="ctr">
              <a:buNone/>
            </a:pPr>
            <a:endParaRPr lang="en-IN" dirty="0"/>
          </a:p>
          <a:p>
            <a:pPr marL="0" indent="0" algn="ctr">
              <a:buNone/>
            </a:pPr>
            <a:endParaRPr lang="en-IN" dirty="0"/>
          </a:p>
          <a:p>
            <a:pPr marL="0" indent="0" algn="ctr">
              <a:buNone/>
            </a:pPr>
            <a:endParaRPr lang="en-IN" dirty="0"/>
          </a:p>
          <a:p>
            <a:pPr marL="0" indent="0" algn="ctr">
              <a:buNone/>
            </a:pPr>
            <a:r>
              <a:rPr lang="en-IN" sz="3600" b="1" dirty="0">
                <a:latin typeface="Times New Roman" panose="02020603050405020304" pitchFamily="18" charset="0"/>
                <a:cs typeface="Times New Roman" panose="02020603050405020304" pitchFamily="18" charset="0"/>
              </a:rPr>
              <a:t>Any Queries/ Questions? </a:t>
            </a:r>
          </a:p>
        </p:txBody>
      </p:sp>
      <p:sp>
        <p:nvSpPr>
          <p:cNvPr id="4" name="Date Placeholder 3">
            <a:extLst>
              <a:ext uri="{FF2B5EF4-FFF2-40B4-BE49-F238E27FC236}">
                <a16:creationId xmlns:a16="http://schemas.microsoft.com/office/drawing/2014/main" id="{0A1389F3-38E7-E345-6C1B-55E8D0E4A115}"/>
              </a:ext>
            </a:extLst>
          </p:cNvPr>
          <p:cNvSpPr>
            <a:spLocks noGrp="1"/>
          </p:cNvSpPr>
          <p:nvPr>
            <p:ph type="dt" sz="half" idx="10"/>
          </p:nvPr>
        </p:nvSpPr>
        <p:spPr/>
        <p:txBody>
          <a:bodyPr/>
          <a:lstStyle/>
          <a:p>
            <a:fld id="{94543B29-5F07-416A-A1AF-5804B2A93342}" type="datetime1">
              <a:rPr lang="en-IN" smtClean="0"/>
              <a:t>02-10-2026</a:t>
            </a:fld>
            <a:endParaRPr lang="en-IN"/>
          </a:p>
        </p:txBody>
      </p:sp>
      <p:sp>
        <p:nvSpPr>
          <p:cNvPr id="6" name="Slide Number Placeholder 5">
            <a:extLst>
              <a:ext uri="{FF2B5EF4-FFF2-40B4-BE49-F238E27FC236}">
                <a16:creationId xmlns:a16="http://schemas.microsoft.com/office/drawing/2014/main" id="{9BF642DD-AAA8-D382-7575-AA032AC13491}"/>
              </a:ext>
            </a:extLst>
          </p:cNvPr>
          <p:cNvSpPr>
            <a:spLocks noGrp="1"/>
          </p:cNvSpPr>
          <p:nvPr>
            <p:ph type="sldNum" sz="quarter" idx="12"/>
          </p:nvPr>
        </p:nvSpPr>
        <p:spPr/>
        <p:txBody>
          <a:bodyPr/>
          <a:lstStyle/>
          <a:p>
            <a:fld id="{47526DCF-DF60-4378-BFCC-D3A207344837}" type="slidenum">
              <a:rPr lang="en-IN" smtClean="0"/>
              <a:t>18</a:t>
            </a:fld>
            <a:endParaRPr lang="en-IN"/>
          </a:p>
        </p:txBody>
      </p:sp>
      <p:pic>
        <p:nvPicPr>
          <p:cNvPr id="5" name="Picture 4">
            <a:extLst>
              <a:ext uri="{FF2B5EF4-FFF2-40B4-BE49-F238E27FC236}">
                <a16:creationId xmlns:a16="http://schemas.microsoft.com/office/drawing/2014/main" id="{04E8474F-C52C-F540-9F28-9B611587229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80203" y="297924"/>
            <a:ext cx="1049749" cy="677182"/>
          </a:xfrm>
          <a:prstGeom prst="rect">
            <a:avLst/>
          </a:prstGeom>
          <a:noFill/>
          <a:ln>
            <a:noFill/>
          </a:ln>
        </p:spPr>
      </p:pic>
    </p:spTree>
    <p:extLst>
      <p:ext uri="{BB962C8B-B14F-4D97-AF65-F5344CB8AC3E}">
        <p14:creationId xmlns:p14="http://schemas.microsoft.com/office/powerpoint/2010/main" val="28135712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152</TotalTime>
  <Words>209</Words>
  <Application>Microsoft Office PowerPoint</Application>
  <PresentationFormat>Widescreen</PresentationFormat>
  <Paragraphs>75</Paragraphs>
  <Slides>18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Times New Roman</vt:lpstr>
      <vt:lpstr>Office Theme</vt:lpstr>
      <vt:lpstr>               Community Project  Branch: CSE-Artificial Intelligence &amp; Machine Learning Department: Data Engineering  Semester: V    Section: A          Regulation: R24             Course Code: R24MSCSP001</vt:lpstr>
      <vt:lpstr>Abstract</vt:lpstr>
      <vt:lpstr>Introduction</vt:lpstr>
      <vt:lpstr>Problem Statement </vt:lpstr>
      <vt:lpstr>Project Objectives </vt:lpstr>
      <vt:lpstr>Project Scope </vt:lpstr>
      <vt:lpstr>Literature Review/ Background Study</vt:lpstr>
      <vt:lpstr>Data Gathered/ Data Used</vt:lpstr>
      <vt:lpstr>Methodology / System Design</vt:lpstr>
      <vt:lpstr>Methodology/ System Design(cont.)</vt:lpstr>
      <vt:lpstr>Implementation / Modules</vt:lpstr>
      <vt:lpstr>Results (Full) / Screenshots </vt:lpstr>
      <vt:lpstr>Impact Assessment </vt:lpstr>
      <vt:lpstr>Challenges Faced </vt:lpstr>
      <vt:lpstr>Conclusion </vt:lpstr>
      <vt:lpstr>Future Work </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Sushma Vatekar</dc:creator>
  <cp:lastModifiedBy>Sushma Vatekar</cp:lastModifiedBy>
  <cp:revision>4</cp:revision>
  <dcterms:created xsi:type="dcterms:W3CDTF">2025-09-22T15:29:51Z</dcterms:created>
  <dcterms:modified xsi:type="dcterms:W3CDTF">2026-07-02T13:02:51Z</dcterms:modified>
</cp:coreProperties>
</file>